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33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673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image" Target="../media/image35.svg"/><Relationship Id="rId10" Type="http://schemas.openxmlformats.org/officeDocument/2006/relationships/image" Target="../media/image3.png"/><Relationship Id="rId4" Type="http://schemas.openxmlformats.org/officeDocument/2006/relationships/image" Target="../media/image34.png"/><Relationship Id="rId9" Type="http://schemas.openxmlformats.org/officeDocument/2006/relationships/image" Target="../media/image39.svg"/></Relationships>
</file>

<file path=ppt/slides/_rels/slide1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sv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sv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40887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Green Lab</a:t>
            </a:r>
            <a:endParaRPr lang="en-US" sz="4450" dirty="0"/>
          </a:p>
        </p:txBody>
      </p:sp>
      <p:sp>
        <p:nvSpPr>
          <p:cNvPr id="4" name="Text 1"/>
          <p:cNvSpPr/>
          <p:nvPr/>
        </p:nvSpPr>
        <p:spPr>
          <a:xfrm>
            <a:off x="6280190" y="4457819"/>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Smart Lab Monitoring &amp; SDG System</a:t>
            </a:r>
            <a:endParaRPr lang="en-US" sz="1750" dirty="0"/>
          </a:p>
        </p:txBody>
      </p:sp>
      <p:pic>
        <p:nvPicPr>
          <p:cNvPr id="6" name="Picture 5">
            <a:extLst>
              <a:ext uri="{FF2B5EF4-FFF2-40B4-BE49-F238E27FC236}">
                <a16:creationId xmlns:a16="http://schemas.microsoft.com/office/drawing/2014/main" id="{44249269-5B40-CDDA-ADD9-038ACBC4687A}"/>
              </a:ext>
            </a:extLst>
          </p:cNvPr>
          <p:cNvPicPr>
            <a:picLocks noChangeAspect="1"/>
          </p:cNvPicPr>
          <p:nvPr/>
        </p:nvPicPr>
        <p:blipFill>
          <a:blip r:embed="rId4"/>
          <a:stretch>
            <a:fillRect/>
          </a:stretch>
        </p:blipFill>
        <p:spPr>
          <a:xfrm>
            <a:off x="12607356" y="7717787"/>
            <a:ext cx="1895740" cy="3905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77176" y="1190149"/>
            <a:ext cx="7497604" cy="438150"/>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The Challenge: Unmonitored Lab Resources</a:t>
            </a:r>
            <a:endParaRPr lang="en-US" sz="2750" dirty="0"/>
          </a:p>
        </p:txBody>
      </p:sp>
      <p:sp>
        <p:nvSpPr>
          <p:cNvPr id="4" name="Shape 1"/>
          <p:cNvSpPr/>
          <p:nvPr/>
        </p:nvSpPr>
        <p:spPr>
          <a:xfrm>
            <a:off x="5977176" y="1758315"/>
            <a:ext cx="8162449" cy="1255276"/>
          </a:xfrm>
          <a:prstGeom prst="roundRect">
            <a:avLst>
              <a:gd name="adj" fmla="val 4692"/>
            </a:avLst>
          </a:prstGeom>
          <a:solidFill>
            <a:srgbClr val="DADBF1"/>
          </a:solidFill>
          <a:ln w="7620">
            <a:solidFill>
              <a:srgbClr val="C0C1D7"/>
            </a:solidFill>
            <a:prstDash val="solid"/>
          </a:ln>
        </p:spPr>
      </p:sp>
      <p:sp>
        <p:nvSpPr>
          <p:cNvPr id="5" name="Shape 2"/>
          <p:cNvSpPr/>
          <p:nvPr/>
        </p:nvSpPr>
        <p:spPr>
          <a:xfrm>
            <a:off x="6124932" y="1906072"/>
            <a:ext cx="420648" cy="420648"/>
          </a:xfrm>
          <a:prstGeom prst="roundRect">
            <a:avLst>
              <a:gd name="adj" fmla="val 21735716"/>
            </a:avLst>
          </a:prstGeom>
          <a:solidFill>
            <a:srgbClr val="4950BC"/>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0661" y="2021800"/>
            <a:ext cx="189190" cy="189190"/>
          </a:xfrm>
          <a:prstGeom prst="rect">
            <a:avLst/>
          </a:prstGeom>
        </p:spPr>
      </p:pic>
      <p:sp>
        <p:nvSpPr>
          <p:cNvPr id="7" name="Text 3"/>
          <p:cNvSpPr/>
          <p:nvPr/>
        </p:nvSpPr>
        <p:spPr>
          <a:xfrm>
            <a:off x="6124932" y="2413397"/>
            <a:ext cx="1752719" cy="219075"/>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Water Waste</a:t>
            </a:r>
            <a:endParaRPr lang="en-US" sz="1350" dirty="0"/>
          </a:p>
        </p:txBody>
      </p:sp>
      <p:sp>
        <p:nvSpPr>
          <p:cNvPr id="8" name="Text 4"/>
          <p:cNvSpPr/>
          <p:nvPr/>
        </p:nvSpPr>
        <p:spPr>
          <a:xfrm>
            <a:off x="6124932" y="2684383"/>
            <a:ext cx="7866936" cy="181451"/>
          </a:xfrm>
          <a:prstGeom prst="rect">
            <a:avLst/>
          </a:prstGeom>
          <a:noFill/>
          <a:ln/>
        </p:spPr>
        <p:txBody>
          <a:bodyPr wrap="non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No tracking of consumption or leak detection</a:t>
            </a:r>
            <a:endParaRPr lang="en-US" sz="1100" dirty="0"/>
          </a:p>
        </p:txBody>
      </p:sp>
      <p:sp>
        <p:nvSpPr>
          <p:cNvPr id="9" name="Shape 5"/>
          <p:cNvSpPr/>
          <p:nvPr/>
        </p:nvSpPr>
        <p:spPr>
          <a:xfrm>
            <a:off x="5977176" y="3100268"/>
            <a:ext cx="8162449" cy="1255276"/>
          </a:xfrm>
          <a:prstGeom prst="roundRect">
            <a:avLst>
              <a:gd name="adj" fmla="val 4692"/>
            </a:avLst>
          </a:prstGeom>
          <a:solidFill>
            <a:srgbClr val="DADBF1"/>
          </a:solidFill>
          <a:ln w="7620">
            <a:solidFill>
              <a:srgbClr val="C0C1D7"/>
            </a:solidFill>
            <a:prstDash val="solid"/>
          </a:ln>
        </p:spPr>
      </p:sp>
      <p:sp>
        <p:nvSpPr>
          <p:cNvPr id="10" name="Shape 6"/>
          <p:cNvSpPr/>
          <p:nvPr/>
        </p:nvSpPr>
        <p:spPr>
          <a:xfrm>
            <a:off x="6124932" y="3248025"/>
            <a:ext cx="420648" cy="420648"/>
          </a:xfrm>
          <a:prstGeom prst="roundRect">
            <a:avLst>
              <a:gd name="adj" fmla="val 21735716"/>
            </a:avLst>
          </a:prstGeom>
          <a:solidFill>
            <a:srgbClr val="4950BC"/>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0661" y="3363754"/>
            <a:ext cx="189190" cy="189190"/>
          </a:xfrm>
          <a:prstGeom prst="rect">
            <a:avLst/>
          </a:prstGeom>
        </p:spPr>
      </p:pic>
      <p:sp>
        <p:nvSpPr>
          <p:cNvPr id="12" name="Text 7"/>
          <p:cNvSpPr/>
          <p:nvPr/>
        </p:nvSpPr>
        <p:spPr>
          <a:xfrm>
            <a:off x="6124932" y="3755350"/>
            <a:ext cx="1752719" cy="219075"/>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Gas Hazards</a:t>
            </a:r>
            <a:endParaRPr lang="en-US" sz="1350" dirty="0"/>
          </a:p>
        </p:txBody>
      </p:sp>
      <p:sp>
        <p:nvSpPr>
          <p:cNvPr id="13" name="Text 8"/>
          <p:cNvSpPr/>
          <p:nvPr/>
        </p:nvSpPr>
        <p:spPr>
          <a:xfrm>
            <a:off x="6124932" y="4026337"/>
            <a:ext cx="7866936" cy="181451"/>
          </a:xfrm>
          <a:prstGeom prst="rect">
            <a:avLst/>
          </a:prstGeom>
          <a:noFill/>
          <a:ln/>
        </p:spPr>
        <p:txBody>
          <a:bodyPr wrap="non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Undetected leaks pose serious safety risks</a:t>
            </a:r>
            <a:endParaRPr lang="en-US" sz="1100" dirty="0"/>
          </a:p>
        </p:txBody>
      </p:sp>
      <p:sp>
        <p:nvSpPr>
          <p:cNvPr id="14" name="Shape 9"/>
          <p:cNvSpPr/>
          <p:nvPr/>
        </p:nvSpPr>
        <p:spPr>
          <a:xfrm>
            <a:off x="5977176" y="4442222"/>
            <a:ext cx="8162449" cy="1255276"/>
          </a:xfrm>
          <a:prstGeom prst="roundRect">
            <a:avLst>
              <a:gd name="adj" fmla="val 4692"/>
            </a:avLst>
          </a:prstGeom>
          <a:solidFill>
            <a:srgbClr val="DADBF1"/>
          </a:solidFill>
          <a:ln w="7620">
            <a:solidFill>
              <a:srgbClr val="C0C1D7"/>
            </a:solidFill>
            <a:prstDash val="solid"/>
          </a:ln>
        </p:spPr>
      </p:sp>
      <p:sp>
        <p:nvSpPr>
          <p:cNvPr id="15" name="Shape 10"/>
          <p:cNvSpPr/>
          <p:nvPr/>
        </p:nvSpPr>
        <p:spPr>
          <a:xfrm>
            <a:off x="6124932" y="4589978"/>
            <a:ext cx="420648" cy="420648"/>
          </a:xfrm>
          <a:prstGeom prst="roundRect">
            <a:avLst>
              <a:gd name="adj" fmla="val 21735716"/>
            </a:avLst>
          </a:prstGeom>
          <a:solidFill>
            <a:srgbClr val="4950BC"/>
          </a:solidFill>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40661" y="4705707"/>
            <a:ext cx="189190" cy="189190"/>
          </a:xfrm>
          <a:prstGeom prst="rect">
            <a:avLst/>
          </a:prstGeom>
        </p:spPr>
      </p:pic>
      <p:sp>
        <p:nvSpPr>
          <p:cNvPr id="17" name="Text 11"/>
          <p:cNvSpPr/>
          <p:nvPr/>
        </p:nvSpPr>
        <p:spPr>
          <a:xfrm>
            <a:off x="6124932" y="5097304"/>
            <a:ext cx="1752719" cy="219075"/>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Energy Loss</a:t>
            </a:r>
            <a:endParaRPr lang="en-US" sz="1350" dirty="0"/>
          </a:p>
        </p:txBody>
      </p:sp>
      <p:sp>
        <p:nvSpPr>
          <p:cNvPr id="18" name="Text 12"/>
          <p:cNvSpPr/>
          <p:nvPr/>
        </p:nvSpPr>
        <p:spPr>
          <a:xfrm>
            <a:off x="6124932" y="5368290"/>
            <a:ext cx="7866936" cy="181451"/>
          </a:xfrm>
          <a:prstGeom prst="rect">
            <a:avLst/>
          </a:prstGeom>
          <a:noFill/>
          <a:ln/>
        </p:spPr>
        <p:txBody>
          <a:bodyPr wrap="non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Excessive electricity usage goes unmonitored</a:t>
            </a:r>
            <a:endParaRPr lang="en-US" sz="1100" dirty="0"/>
          </a:p>
        </p:txBody>
      </p:sp>
      <p:sp>
        <p:nvSpPr>
          <p:cNvPr id="19" name="Shape 13"/>
          <p:cNvSpPr/>
          <p:nvPr/>
        </p:nvSpPr>
        <p:spPr>
          <a:xfrm>
            <a:off x="5977176" y="5784175"/>
            <a:ext cx="8162449" cy="1255276"/>
          </a:xfrm>
          <a:prstGeom prst="roundRect">
            <a:avLst>
              <a:gd name="adj" fmla="val 4692"/>
            </a:avLst>
          </a:prstGeom>
          <a:solidFill>
            <a:srgbClr val="DADBF1"/>
          </a:solidFill>
          <a:ln w="7620">
            <a:solidFill>
              <a:srgbClr val="C0C1D7"/>
            </a:solidFill>
            <a:prstDash val="solid"/>
          </a:ln>
        </p:spPr>
      </p:sp>
      <p:sp>
        <p:nvSpPr>
          <p:cNvPr id="20" name="Shape 14"/>
          <p:cNvSpPr/>
          <p:nvPr/>
        </p:nvSpPr>
        <p:spPr>
          <a:xfrm>
            <a:off x="6124932" y="5931932"/>
            <a:ext cx="420648" cy="420648"/>
          </a:xfrm>
          <a:prstGeom prst="roundRect">
            <a:avLst>
              <a:gd name="adj" fmla="val 21735716"/>
            </a:avLst>
          </a:prstGeom>
          <a:solidFill>
            <a:srgbClr val="4950BC"/>
          </a:solidFill>
          <a:ln/>
        </p:spPr>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40661" y="6047661"/>
            <a:ext cx="189190" cy="189190"/>
          </a:xfrm>
          <a:prstGeom prst="rect">
            <a:avLst/>
          </a:prstGeom>
        </p:spPr>
      </p:pic>
      <p:sp>
        <p:nvSpPr>
          <p:cNvPr id="22" name="Text 15"/>
          <p:cNvSpPr/>
          <p:nvPr/>
        </p:nvSpPr>
        <p:spPr>
          <a:xfrm>
            <a:off x="6124932" y="6439257"/>
            <a:ext cx="1752719" cy="219075"/>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No System</a:t>
            </a:r>
            <a:endParaRPr lang="en-US" sz="1350" dirty="0"/>
          </a:p>
        </p:txBody>
      </p:sp>
      <p:sp>
        <p:nvSpPr>
          <p:cNvPr id="23" name="Text 16"/>
          <p:cNvSpPr/>
          <p:nvPr/>
        </p:nvSpPr>
        <p:spPr>
          <a:xfrm>
            <a:off x="6124932" y="6710243"/>
            <a:ext cx="7866936" cy="181451"/>
          </a:xfrm>
          <a:prstGeom prst="rect">
            <a:avLst/>
          </a:prstGeom>
          <a:noFill/>
          <a:ln/>
        </p:spPr>
        <p:txBody>
          <a:bodyPr wrap="non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Administrators cannot track or control usage</a:t>
            </a:r>
            <a:endParaRPr lang="en-US" sz="1100" dirty="0"/>
          </a:p>
        </p:txBody>
      </p:sp>
      <p:pic>
        <p:nvPicPr>
          <p:cNvPr id="24" name="Picture 23">
            <a:extLst>
              <a:ext uri="{FF2B5EF4-FFF2-40B4-BE49-F238E27FC236}">
                <a16:creationId xmlns:a16="http://schemas.microsoft.com/office/drawing/2014/main" id="{A4F88F70-DA27-C903-4A92-B14E03EDAE6F}"/>
              </a:ext>
            </a:extLst>
          </p:cNvPr>
          <p:cNvPicPr>
            <a:picLocks noChangeAspect="1"/>
          </p:cNvPicPr>
          <p:nvPr/>
        </p:nvPicPr>
        <p:blipFill>
          <a:blip r:embed="rId8"/>
          <a:stretch>
            <a:fillRect/>
          </a:stretch>
        </p:blipFill>
        <p:spPr>
          <a:xfrm>
            <a:off x="12607356" y="7717787"/>
            <a:ext cx="1895740" cy="3905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24746"/>
            <a:ext cx="1265598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Our Solution: Web-Based Monitoring Platform</a:t>
            </a:r>
            <a:endParaRPr lang="en-US" sz="4450" dirty="0"/>
          </a:p>
        </p:txBody>
      </p:sp>
      <p:sp>
        <p:nvSpPr>
          <p:cNvPr id="3" name="Text 1"/>
          <p:cNvSpPr/>
          <p:nvPr/>
        </p:nvSpPr>
        <p:spPr>
          <a:xfrm>
            <a:off x="793790" y="210050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Real-Time Tracking</a:t>
            </a:r>
            <a:endParaRPr lang="en-US" sz="2200" dirty="0"/>
          </a:p>
        </p:txBody>
      </p:sp>
      <p:sp>
        <p:nvSpPr>
          <p:cNvPr id="4" name="Text 2"/>
          <p:cNvSpPr/>
          <p:nvPr/>
        </p:nvSpPr>
        <p:spPr>
          <a:xfrm>
            <a:off x="793790" y="2681645"/>
            <a:ext cx="4205168"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Monitor water, gas, and electricity usage across all labs from a centralized dashboard</a:t>
            </a:r>
            <a:endParaRPr lang="en-US" sz="1750" dirty="0"/>
          </a:p>
        </p:txBody>
      </p:sp>
      <p:sp>
        <p:nvSpPr>
          <p:cNvPr id="5" name="Text 3"/>
          <p:cNvSpPr/>
          <p:nvPr/>
        </p:nvSpPr>
        <p:spPr>
          <a:xfrm>
            <a:off x="793790" y="399716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Intelligent Alerts</a:t>
            </a:r>
            <a:endParaRPr lang="en-US" sz="2200" dirty="0"/>
          </a:p>
        </p:txBody>
      </p:sp>
      <p:sp>
        <p:nvSpPr>
          <p:cNvPr id="6" name="Text 4"/>
          <p:cNvSpPr/>
          <p:nvPr/>
        </p:nvSpPr>
        <p:spPr>
          <a:xfrm>
            <a:off x="793790" y="4578310"/>
            <a:ext cx="4205168"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Instant notifications for leaks, hazards, and unusual consumption patterns</a:t>
            </a:r>
            <a:endParaRPr lang="en-US" sz="1750" dirty="0"/>
          </a:p>
        </p:txBody>
      </p:sp>
      <p:sp>
        <p:nvSpPr>
          <p:cNvPr id="7" name="Text 5"/>
          <p:cNvSpPr/>
          <p:nvPr/>
        </p:nvSpPr>
        <p:spPr>
          <a:xfrm>
            <a:off x="793790" y="553092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Resource Requests</a:t>
            </a:r>
            <a:endParaRPr lang="en-US" sz="2200" dirty="0"/>
          </a:p>
        </p:txBody>
      </p:sp>
      <p:sp>
        <p:nvSpPr>
          <p:cNvPr id="8" name="Text 6"/>
          <p:cNvSpPr/>
          <p:nvPr/>
        </p:nvSpPr>
        <p:spPr>
          <a:xfrm>
            <a:off x="793790" y="6112073"/>
            <a:ext cx="4205168"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Streamlined system for requesting additional resources with admin approval workflow</a:t>
            </a:r>
            <a:endParaRPr lang="en-US" sz="1750" dirty="0"/>
          </a:p>
        </p:txBody>
      </p:sp>
      <p:pic>
        <p:nvPicPr>
          <p:cNvPr id="9" name="Image 0" descr="preencoded.png"/>
          <p:cNvPicPr>
            <a:picLocks noChangeAspect="1"/>
          </p:cNvPicPr>
          <p:nvPr/>
        </p:nvPicPr>
        <p:blipFill>
          <a:blip r:embed="rId3"/>
          <a:stretch>
            <a:fillRect/>
          </a:stretch>
        </p:blipFill>
        <p:spPr>
          <a:xfrm>
            <a:off x="5559981" y="2327434"/>
            <a:ext cx="8284131" cy="4623673"/>
          </a:xfrm>
          <a:prstGeom prst="rect">
            <a:avLst/>
          </a:prstGeom>
        </p:spPr>
      </p:pic>
      <p:pic>
        <p:nvPicPr>
          <p:cNvPr id="10" name="Picture 9">
            <a:extLst>
              <a:ext uri="{FF2B5EF4-FFF2-40B4-BE49-F238E27FC236}">
                <a16:creationId xmlns:a16="http://schemas.microsoft.com/office/drawing/2014/main" id="{20825DF3-A44F-79DD-883E-4FD3859A81D7}"/>
              </a:ext>
            </a:extLst>
          </p:cNvPr>
          <p:cNvPicPr>
            <a:picLocks noChangeAspect="1"/>
          </p:cNvPicPr>
          <p:nvPr/>
        </p:nvPicPr>
        <p:blipFill>
          <a:blip r:embed="rId4"/>
          <a:stretch>
            <a:fillRect/>
          </a:stretch>
        </p:blipFill>
        <p:spPr>
          <a:xfrm>
            <a:off x="12607356" y="7717787"/>
            <a:ext cx="1895740" cy="3905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65007"/>
            <a:ext cx="7593092"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Role-Based Access System</a:t>
            </a:r>
            <a:endParaRPr lang="en-US" sz="4450" dirty="0"/>
          </a:p>
        </p:txBody>
      </p:sp>
      <p:sp>
        <p:nvSpPr>
          <p:cNvPr id="3" name="Shape 1"/>
          <p:cNvSpPr/>
          <p:nvPr/>
        </p:nvSpPr>
        <p:spPr>
          <a:xfrm>
            <a:off x="793790" y="3127415"/>
            <a:ext cx="6407944" cy="3137059"/>
          </a:xfrm>
          <a:prstGeom prst="roundRect">
            <a:avLst>
              <a:gd name="adj" fmla="val 3037"/>
            </a:avLst>
          </a:prstGeom>
          <a:solidFill>
            <a:srgbClr val="FFFFFF"/>
          </a:solidFill>
          <a:ln w="30480">
            <a:solidFill>
              <a:srgbClr val="C0C1D7"/>
            </a:solidFill>
            <a:prstDash val="solid"/>
          </a:ln>
        </p:spPr>
      </p:sp>
      <p:sp>
        <p:nvSpPr>
          <p:cNvPr id="4" name="Shape 2"/>
          <p:cNvSpPr/>
          <p:nvPr/>
        </p:nvSpPr>
        <p:spPr>
          <a:xfrm>
            <a:off x="824270" y="3157895"/>
            <a:ext cx="6346984" cy="680442"/>
          </a:xfrm>
          <a:prstGeom prst="roundRect">
            <a:avLst>
              <a:gd name="adj" fmla="val 8626"/>
            </a:avLst>
          </a:prstGeom>
          <a:solidFill>
            <a:srgbClr val="DADBF1"/>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27621" y="3324106"/>
            <a:ext cx="340162" cy="340162"/>
          </a:xfrm>
          <a:prstGeom prst="rect">
            <a:avLst/>
          </a:prstGeom>
        </p:spPr>
      </p:pic>
      <p:sp>
        <p:nvSpPr>
          <p:cNvPr id="6" name="Text 3"/>
          <p:cNvSpPr/>
          <p:nvPr/>
        </p:nvSpPr>
        <p:spPr>
          <a:xfrm>
            <a:off x="1051084" y="40651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Administrator</a:t>
            </a:r>
            <a:endParaRPr lang="en-US" sz="2200" dirty="0"/>
          </a:p>
        </p:txBody>
      </p:sp>
      <p:sp>
        <p:nvSpPr>
          <p:cNvPr id="7" name="Text 4"/>
          <p:cNvSpPr/>
          <p:nvPr/>
        </p:nvSpPr>
        <p:spPr>
          <a:xfrm>
            <a:off x="1051084" y="4555569"/>
            <a:ext cx="589335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Full control over all labs, user management, reports, and system settings</a:t>
            </a:r>
            <a:endParaRPr lang="en-US" sz="1750" dirty="0"/>
          </a:p>
        </p:txBody>
      </p:sp>
      <p:sp>
        <p:nvSpPr>
          <p:cNvPr id="8" name="Shape 5"/>
          <p:cNvSpPr/>
          <p:nvPr/>
        </p:nvSpPr>
        <p:spPr>
          <a:xfrm>
            <a:off x="7428548" y="3127415"/>
            <a:ext cx="6408063" cy="3137059"/>
          </a:xfrm>
          <a:prstGeom prst="roundRect">
            <a:avLst>
              <a:gd name="adj" fmla="val 3037"/>
            </a:avLst>
          </a:prstGeom>
          <a:solidFill>
            <a:srgbClr val="FFFFFF"/>
          </a:solidFill>
          <a:ln w="30480">
            <a:solidFill>
              <a:srgbClr val="C0C1D7"/>
            </a:solidFill>
            <a:prstDash val="solid"/>
          </a:ln>
        </p:spPr>
      </p:sp>
      <p:sp>
        <p:nvSpPr>
          <p:cNvPr id="9" name="Shape 6"/>
          <p:cNvSpPr/>
          <p:nvPr/>
        </p:nvSpPr>
        <p:spPr>
          <a:xfrm>
            <a:off x="7459027" y="3157895"/>
            <a:ext cx="6347103" cy="680442"/>
          </a:xfrm>
          <a:prstGeom prst="roundRect">
            <a:avLst>
              <a:gd name="adj" fmla="val 8626"/>
            </a:avLst>
          </a:prstGeom>
          <a:solidFill>
            <a:srgbClr val="DADBF1"/>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62498" y="3324106"/>
            <a:ext cx="340162" cy="340162"/>
          </a:xfrm>
          <a:prstGeom prst="rect">
            <a:avLst/>
          </a:prstGeom>
        </p:spPr>
      </p:pic>
      <p:sp>
        <p:nvSpPr>
          <p:cNvPr id="11" name="Text 7"/>
          <p:cNvSpPr/>
          <p:nvPr/>
        </p:nvSpPr>
        <p:spPr>
          <a:xfrm>
            <a:off x="7685842" y="40651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Staff</a:t>
            </a:r>
            <a:endParaRPr lang="en-US" sz="2200" dirty="0"/>
          </a:p>
        </p:txBody>
      </p:sp>
      <p:sp>
        <p:nvSpPr>
          <p:cNvPr id="12" name="Text 8"/>
          <p:cNvSpPr/>
          <p:nvPr/>
        </p:nvSpPr>
        <p:spPr>
          <a:xfrm>
            <a:off x="7685842" y="4555569"/>
            <a:ext cx="589347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View lab data, request resources, and send emergency alerts for their assigned labsBasic monitoring access, submit small requests, and report issues or hazards</a:t>
            </a:r>
            <a:endParaRPr lang="en-US" sz="1750" dirty="0"/>
          </a:p>
        </p:txBody>
      </p:sp>
      <p:pic>
        <p:nvPicPr>
          <p:cNvPr id="13" name="Picture 12">
            <a:extLst>
              <a:ext uri="{FF2B5EF4-FFF2-40B4-BE49-F238E27FC236}">
                <a16:creationId xmlns:a16="http://schemas.microsoft.com/office/drawing/2014/main" id="{91CACF78-2370-F450-7167-0DF690ED2A6D}"/>
              </a:ext>
            </a:extLst>
          </p:cNvPr>
          <p:cNvPicPr>
            <a:picLocks noChangeAspect="1"/>
          </p:cNvPicPr>
          <p:nvPr/>
        </p:nvPicPr>
        <p:blipFill>
          <a:blip r:embed="rId5"/>
          <a:stretch>
            <a:fillRect/>
          </a:stretch>
        </p:blipFill>
        <p:spPr>
          <a:xfrm>
            <a:off x="12607356" y="7717787"/>
            <a:ext cx="1895740" cy="3905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0922" y="675561"/>
            <a:ext cx="6233279" cy="634722"/>
          </a:xfrm>
          <a:prstGeom prst="rect">
            <a:avLst/>
          </a:prstGeom>
          <a:noFill/>
          <a:ln/>
        </p:spPr>
        <p:txBody>
          <a:bodyPr wrap="none" lIns="0" tIns="0" rIns="0" bIns="0" rtlCol="0" anchor="t"/>
          <a:lstStyle/>
          <a:p>
            <a:pPr marL="0" indent="0" algn="l">
              <a:lnSpc>
                <a:spcPts val="4950"/>
              </a:lnSpc>
              <a:buNone/>
            </a:pPr>
            <a:r>
              <a:rPr lang="en-US" sz="3950" b="1" dirty="0">
                <a:solidFill>
                  <a:srgbClr val="000000"/>
                </a:solidFill>
                <a:latin typeface="Inter Bold" pitchFamily="34" charset="0"/>
                <a:ea typeface="Inter Bold" pitchFamily="34" charset="-122"/>
                <a:cs typeface="Inter Bold" pitchFamily="34" charset="-120"/>
              </a:rPr>
              <a:t>Administrator Dashboard</a:t>
            </a:r>
            <a:endParaRPr lang="en-US" sz="39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0922" y="1608415"/>
            <a:ext cx="203121" cy="203121"/>
          </a:xfrm>
          <a:prstGeom prst="rect">
            <a:avLst/>
          </a:prstGeom>
        </p:spPr>
      </p:pic>
      <p:sp>
        <p:nvSpPr>
          <p:cNvPr id="5" name="Shape 1"/>
          <p:cNvSpPr/>
          <p:nvPr/>
        </p:nvSpPr>
        <p:spPr>
          <a:xfrm>
            <a:off x="710922" y="1905357"/>
            <a:ext cx="7722156" cy="22860"/>
          </a:xfrm>
          <a:prstGeom prst="rect">
            <a:avLst/>
          </a:prstGeom>
          <a:solidFill>
            <a:srgbClr val="4950BC"/>
          </a:solidFill>
          <a:ln/>
        </p:spPr>
      </p:sp>
      <p:sp>
        <p:nvSpPr>
          <p:cNvPr id="6" name="Text 2"/>
          <p:cNvSpPr/>
          <p:nvPr/>
        </p:nvSpPr>
        <p:spPr>
          <a:xfrm>
            <a:off x="710922" y="2052638"/>
            <a:ext cx="2539008" cy="317421"/>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Monitor All Labs</a:t>
            </a:r>
            <a:endParaRPr lang="en-US" sz="1950" dirty="0"/>
          </a:p>
        </p:txBody>
      </p:sp>
      <p:sp>
        <p:nvSpPr>
          <p:cNvPr id="7" name="Text 3"/>
          <p:cNvSpPr/>
          <p:nvPr/>
        </p:nvSpPr>
        <p:spPr>
          <a:xfrm>
            <a:off x="710922" y="2479119"/>
            <a:ext cx="7722156" cy="308015"/>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View real-time data from every lab in the facility</a:t>
            </a:r>
            <a:endParaRPr lang="en-US" sz="15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0922" y="3146584"/>
            <a:ext cx="203121" cy="203121"/>
          </a:xfrm>
          <a:prstGeom prst="rect">
            <a:avLst/>
          </a:prstGeom>
        </p:spPr>
      </p:pic>
      <p:sp>
        <p:nvSpPr>
          <p:cNvPr id="9" name="Shape 4"/>
          <p:cNvSpPr/>
          <p:nvPr/>
        </p:nvSpPr>
        <p:spPr>
          <a:xfrm>
            <a:off x="710922" y="3443526"/>
            <a:ext cx="7722156" cy="22860"/>
          </a:xfrm>
          <a:prstGeom prst="rect">
            <a:avLst/>
          </a:prstGeom>
          <a:solidFill>
            <a:srgbClr val="4950BC"/>
          </a:solidFill>
          <a:ln/>
        </p:spPr>
      </p:sp>
      <p:sp>
        <p:nvSpPr>
          <p:cNvPr id="10" name="Text 5"/>
          <p:cNvSpPr/>
          <p:nvPr/>
        </p:nvSpPr>
        <p:spPr>
          <a:xfrm>
            <a:off x="710922" y="3590806"/>
            <a:ext cx="2539008" cy="317421"/>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Manage Alerts</a:t>
            </a:r>
            <a:endParaRPr lang="en-US" sz="1950" dirty="0"/>
          </a:p>
        </p:txBody>
      </p:sp>
      <p:sp>
        <p:nvSpPr>
          <p:cNvPr id="11" name="Text 6"/>
          <p:cNvSpPr/>
          <p:nvPr/>
        </p:nvSpPr>
        <p:spPr>
          <a:xfrm>
            <a:off x="710922" y="4017288"/>
            <a:ext cx="7722156" cy="308015"/>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Receive and respond to emergency notifications</a:t>
            </a:r>
            <a:endParaRPr lang="en-US" sz="15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0922" y="4684752"/>
            <a:ext cx="203121" cy="203121"/>
          </a:xfrm>
          <a:prstGeom prst="rect">
            <a:avLst/>
          </a:prstGeom>
        </p:spPr>
      </p:pic>
      <p:sp>
        <p:nvSpPr>
          <p:cNvPr id="13" name="Shape 7"/>
          <p:cNvSpPr/>
          <p:nvPr/>
        </p:nvSpPr>
        <p:spPr>
          <a:xfrm>
            <a:off x="710922" y="4981694"/>
            <a:ext cx="7722156" cy="22860"/>
          </a:xfrm>
          <a:prstGeom prst="rect">
            <a:avLst/>
          </a:prstGeom>
          <a:solidFill>
            <a:srgbClr val="4950BC"/>
          </a:solidFill>
          <a:ln/>
        </p:spPr>
      </p:sp>
      <p:sp>
        <p:nvSpPr>
          <p:cNvPr id="14" name="Text 8"/>
          <p:cNvSpPr/>
          <p:nvPr/>
        </p:nvSpPr>
        <p:spPr>
          <a:xfrm>
            <a:off x="710922" y="5128974"/>
            <a:ext cx="2539008" cy="317421"/>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Approve Requests</a:t>
            </a:r>
            <a:endParaRPr lang="en-US" sz="1950" dirty="0"/>
          </a:p>
        </p:txBody>
      </p:sp>
      <p:sp>
        <p:nvSpPr>
          <p:cNvPr id="15" name="Text 9"/>
          <p:cNvSpPr/>
          <p:nvPr/>
        </p:nvSpPr>
        <p:spPr>
          <a:xfrm>
            <a:off x="710922" y="5555456"/>
            <a:ext cx="7722156" cy="308015"/>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Review and authorize resource requests</a:t>
            </a:r>
            <a:endParaRPr lang="en-US" sz="15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0922" y="6222921"/>
            <a:ext cx="203121" cy="203121"/>
          </a:xfrm>
          <a:prstGeom prst="rect">
            <a:avLst/>
          </a:prstGeom>
        </p:spPr>
      </p:pic>
      <p:sp>
        <p:nvSpPr>
          <p:cNvPr id="17" name="Shape 10"/>
          <p:cNvSpPr/>
          <p:nvPr/>
        </p:nvSpPr>
        <p:spPr>
          <a:xfrm>
            <a:off x="710922" y="6519863"/>
            <a:ext cx="7722156" cy="22860"/>
          </a:xfrm>
          <a:prstGeom prst="rect">
            <a:avLst/>
          </a:prstGeom>
          <a:solidFill>
            <a:srgbClr val="4950BC"/>
          </a:solidFill>
          <a:ln/>
        </p:spPr>
      </p:sp>
      <p:sp>
        <p:nvSpPr>
          <p:cNvPr id="18" name="Text 11"/>
          <p:cNvSpPr/>
          <p:nvPr/>
        </p:nvSpPr>
        <p:spPr>
          <a:xfrm>
            <a:off x="710922" y="6667143"/>
            <a:ext cx="2539008" cy="317421"/>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Generate Reports</a:t>
            </a:r>
            <a:endParaRPr lang="en-US" sz="1950" dirty="0"/>
          </a:p>
        </p:txBody>
      </p:sp>
      <p:sp>
        <p:nvSpPr>
          <p:cNvPr id="19" name="Text 12"/>
          <p:cNvSpPr/>
          <p:nvPr/>
        </p:nvSpPr>
        <p:spPr>
          <a:xfrm>
            <a:off x="710922" y="7093625"/>
            <a:ext cx="7722156" cy="308015"/>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Export detailed usage analytics and trends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98364"/>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Staff Dashboard</a:t>
            </a:r>
            <a:endParaRPr lang="en-US" sz="44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0190" y="2275642"/>
            <a:ext cx="226814" cy="226814"/>
          </a:xfrm>
          <a:prstGeom prst="rect">
            <a:avLst/>
          </a:prstGeom>
        </p:spPr>
      </p:pic>
      <p:sp>
        <p:nvSpPr>
          <p:cNvPr id="5" name="Shape 1"/>
          <p:cNvSpPr/>
          <p:nvPr/>
        </p:nvSpPr>
        <p:spPr>
          <a:xfrm>
            <a:off x="6280190" y="2602349"/>
            <a:ext cx="3664744" cy="30480"/>
          </a:xfrm>
          <a:prstGeom prst="rect">
            <a:avLst/>
          </a:prstGeom>
          <a:solidFill>
            <a:srgbClr val="4950BC"/>
          </a:solidFill>
          <a:ln/>
        </p:spPr>
      </p:sp>
      <p:sp>
        <p:nvSpPr>
          <p:cNvPr id="6" name="Text 2"/>
          <p:cNvSpPr/>
          <p:nvPr/>
        </p:nvSpPr>
        <p:spPr>
          <a:xfrm>
            <a:off x="6280190" y="277665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View Lab Data</a:t>
            </a:r>
            <a:endParaRPr lang="en-US" sz="2200" dirty="0"/>
          </a:p>
        </p:txBody>
      </p:sp>
      <p:sp>
        <p:nvSpPr>
          <p:cNvPr id="7" name="Text 3"/>
          <p:cNvSpPr/>
          <p:nvPr/>
        </p:nvSpPr>
        <p:spPr>
          <a:xfrm>
            <a:off x="6280190" y="3267075"/>
            <a:ext cx="3664744"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Monitor real-time consumption, environmental conditions, and resource status within assigned labs.</a:t>
            </a:r>
            <a:endParaRPr lang="en-US" sz="17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71748" y="2275642"/>
            <a:ext cx="226814" cy="226814"/>
          </a:xfrm>
          <a:prstGeom prst="rect">
            <a:avLst/>
          </a:prstGeom>
        </p:spPr>
      </p:pic>
      <p:sp>
        <p:nvSpPr>
          <p:cNvPr id="9" name="Shape 4"/>
          <p:cNvSpPr/>
          <p:nvPr/>
        </p:nvSpPr>
        <p:spPr>
          <a:xfrm>
            <a:off x="10171748" y="2602349"/>
            <a:ext cx="3664863" cy="30480"/>
          </a:xfrm>
          <a:prstGeom prst="rect">
            <a:avLst/>
          </a:prstGeom>
          <a:solidFill>
            <a:srgbClr val="4950BC"/>
          </a:solidFill>
          <a:ln/>
        </p:spPr>
      </p:sp>
      <p:sp>
        <p:nvSpPr>
          <p:cNvPr id="10" name="Text 5"/>
          <p:cNvSpPr/>
          <p:nvPr/>
        </p:nvSpPr>
        <p:spPr>
          <a:xfrm>
            <a:off x="10171748" y="277665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Request Resources</a:t>
            </a:r>
            <a:endParaRPr lang="en-US" sz="2200" dirty="0"/>
          </a:p>
        </p:txBody>
      </p:sp>
      <p:sp>
        <p:nvSpPr>
          <p:cNvPr id="11" name="Text 6"/>
          <p:cNvSpPr/>
          <p:nvPr/>
        </p:nvSpPr>
        <p:spPr>
          <a:xfrm>
            <a:off x="10171748" y="3267075"/>
            <a:ext cx="3664863"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Easily submit requests for new equipment, chemical supplies, or maintenance services with an approval workflow.</a:t>
            </a:r>
            <a:endParaRPr lang="en-US" sz="17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80190" y="5143857"/>
            <a:ext cx="226814" cy="226814"/>
          </a:xfrm>
          <a:prstGeom prst="rect">
            <a:avLst/>
          </a:prstGeom>
        </p:spPr>
      </p:pic>
      <p:sp>
        <p:nvSpPr>
          <p:cNvPr id="13" name="Shape 7"/>
          <p:cNvSpPr/>
          <p:nvPr/>
        </p:nvSpPr>
        <p:spPr>
          <a:xfrm>
            <a:off x="6280190" y="5470565"/>
            <a:ext cx="7556421" cy="30480"/>
          </a:xfrm>
          <a:prstGeom prst="rect">
            <a:avLst/>
          </a:prstGeom>
          <a:solidFill>
            <a:srgbClr val="4950BC"/>
          </a:solidFill>
          <a:ln/>
        </p:spPr>
      </p:sp>
      <p:sp>
        <p:nvSpPr>
          <p:cNvPr id="14" name="Text 8"/>
          <p:cNvSpPr/>
          <p:nvPr/>
        </p:nvSpPr>
        <p:spPr>
          <a:xfrm>
            <a:off x="6280190" y="5644872"/>
            <a:ext cx="324659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Send Emergency Alerts</a:t>
            </a:r>
            <a:endParaRPr lang="en-US" sz="2200" dirty="0"/>
          </a:p>
        </p:txBody>
      </p:sp>
      <p:sp>
        <p:nvSpPr>
          <p:cNvPr id="15" name="Text 9"/>
          <p:cNvSpPr/>
          <p:nvPr/>
        </p:nvSpPr>
        <p:spPr>
          <a:xfrm>
            <a:off x="6280190" y="6135291"/>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Trigger instant notifications to administrators for critical safety issues or urgent operational needs.</a:t>
            </a:r>
            <a:endParaRPr lang="en-US" sz="1750" dirty="0"/>
          </a:p>
        </p:txBody>
      </p:sp>
      <p:pic>
        <p:nvPicPr>
          <p:cNvPr id="16" name="Picture 15">
            <a:extLst>
              <a:ext uri="{FF2B5EF4-FFF2-40B4-BE49-F238E27FC236}">
                <a16:creationId xmlns:a16="http://schemas.microsoft.com/office/drawing/2014/main" id="{289821A4-0439-19BF-1EE1-DA1D20AD254D}"/>
              </a:ext>
            </a:extLst>
          </p:cNvPr>
          <p:cNvPicPr>
            <a:picLocks noChangeAspect="1"/>
          </p:cNvPicPr>
          <p:nvPr/>
        </p:nvPicPr>
        <p:blipFill>
          <a:blip r:embed="rId7"/>
          <a:stretch>
            <a:fillRect/>
          </a:stretch>
        </p:blipFill>
        <p:spPr>
          <a:xfrm>
            <a:off x="12607356" y="7717787"/>
            <a:ext cx="1895740" cy="3905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09556"/>
            <a:ext cx="1133951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Resource Request &amp; Emergency Systems</a:t>
            </a:r>
            <a:endParaRPr lang="en-US" sz="4450" dirty="0"/>
          </a:p>
        </p:txBody>
      </p:sp>
      <p:sp>
        <p:nvSpPr>
          <p:cNvPr id="3" name="Text 1"/>
          <p:cNvSpPr/>
          <p:nvPr/>
        </p:nvSpPr>
        <p:spPr>
          <a:xfrm>
            <a:off x="793790" y="2485311"/>
            <a:ext cx="3914656"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Resource Request Workflow</a:t>
            </a:r>
            <a:endParaRPr lang="en-US" sz="2200" dirty="0"/>
          </a:p>
        </p:txBody>
      </p:sp>
      <p:pic>
        <p:nvPicPr>
          <p:cNvPr id="4" name="Image 0" descr="preencoded.png"/>
          <p:cNvPicPr>
            <a:picLocks noChangeAspect="1"/>
          </p:cNvPicPr>
          <p:nvPr/>
        </p:nvPicPr>
        <p:blipFill>
          <a:blip r:embed="rId3"/>
          <a:stretch>
            <a:fillRect/>
          </a:stretch>
        </p:blipFill>
        <p:spPr>
          <a:xfrm>
            <a:off x="1844040" y="3094792"/>
            <a:ext cx="6183630" cy="3669982"/>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6926" y="3991796"/>
            <a:ext cx="526404" cy="526404"/>
          </a:xfrm>
          <a:prstGeom prst="rect">
            <a:avLst/>
          </a:prstGeom>
        </p:spPr>
      </p:pic>
      <p:sp>
        <p:nvSpPr>
          <p:cNvPr id="6" name="Text 2"/>
          <p:cNvSpPr/>
          <p:nvPr/>
        </p:nvSpPr>
        <p:spPr>
          <a:xfrm>
            <a:off x="6147933" y="5765450"/>
            <a:ext cx="1537100" cy="592205"/>
          </a:xfrm>
          <a:prstGeom prst="rect">
            <a:avLst/>
          </a:prstGeom>
          <a:noFill/>
          <a:ln/>
        </p:spPr>
        <p:txBody>
          <a:bodyPr wrap="square" lIns="0" tIns="0" rIns="0" bIns="0" rtlCol="0" anchor="t"/>
          <a:lstStyle/>
          <a:p>
            <a:pPr marL="0" indent="0" algn="ctr">
              <a:lnSpc>
                <a:spcPts val="2300"/>
              </a:lnSpc>
              <a:buNone/>
            </a:pPr>
            <a:r>
              <a:rPr lang="en-US" sz="1850" b="1" dirty="0">
                <a:solidFill>
                  <a:srgbClr val="272525"/>
                </a:solidFill>
                <a:latin typeface="Inter Bold" pitchFamily="34" charset="0"/>
                <a:ea typeface="Inter Bold" pitchFamily="34" charset="-122"/>
                <a:cs typeface="Inter Bold" pitchFamily="34" charset="-120"/>
              </a:rPr>
              <a:t>Approve or Reject</a:t>
            </a:r>
            <a:endParaRPr lang="en-US" sz="18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89793" y="3992783"/>
            <a:ext cx="526404" cy="526404"/>
          </a:xfrm>
          <a:prstGeom prst="rect">
            <a:avLst/>
          </a:prstGeom>
        </p:spPr>
      </p:pic>
      <p:sp>
        <p:nvSpPr>
          <p:cNvPr id="8" name="Text 3"/>
          <p:cNvSpPr/>
          <p:nvPr/>
        </p:nvSpPr>
        <p:spPr>
          <a:xfrm>
            <a:off x="4210765" y="5765450"/>
            <a:ext cx="1537100" cy="592205"/>
          </a:xfrm>
          <a:prstGeom prst="rect">
            <a:avLst/>
          </a:prstGeom>
          <a:noFill/>
          <a:ln/>
        </p:spPr>
        <p:txBody>
          <a:bodyPr wrap="square" lIns="0" tIns="0" rIns="0" bIns="0" rtlCol="0" anchor="t"/>
          <a:lstStyle/>
          <a:p>
            <a:pPr marL="0" indent="0" algn="ctr">
              <a:lnSpc>
                <a:spcPts val="2300"/>
              </a:lnSpc>
              <a:buNone/>
            </a:pPr>
            <a:r>
              <a:rPr lang="en-US" sz="1850" b="1" dirty="0">
                <a:solidFill>
                  <a:srgbClr val="272525"/>
                </a:solidFill>
                <a:latin typeface="Inter Bold" pitchFamily="34" charset="0"/>
                <a:ea typeface="Inter Bold" pitchFamily="34" charset="-122"/>
                <a:cs typeface="Inter Bold" pitchFamily="34" charset="-120"/>
              </a:rPr>
              <a:t>Admin Notified</a:t>
            </a:r>
            <a:endParaRPr lang="en-US" sz="185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52625" y="3992783"/>
            <a:ext cx="526404" cy="526404"/>
          </a:xfrm>
          <a:prstGeom prst="rect">
            <a:avLst/>
          </a:prstGeom>
        </p:spPr>
      </p:pic>
      <p:sp>
        <p:nvSpPr>
          <p:cNvPr id="10" name="Text 4"/>
          <p:cNvSpPr/>
          <p:nvPr/>
        </p:nvSpPr>
        <p:spPr>
          <a:xfrm>
            <a:off x="2242013" y="5765450"/>
            <a:ext cx="1537100" cy="592205"/>
          </a:xfrm>
          <a:prstGeom prst="rect">
            <a:avLst/>
          </a:prstGeom>
          <a:noFill/>
          <a:ln/>
        </p:spPr>
        <p:txBody>
          <a:bodyPr wrap="square" lIns="0" tIns="0" rIns="0" bIns="0" rtlCol="0" anchor="t"/>
          <a:lstStyle/>
          <a:p>
            <a:pPr marL="0" indent="0" algn="ctr">
              <a:lnSpc>
                <a:spcPts val="2300"/>
              </a:lnSpc>
              <a:buNone/>
            </a:pPr>
            <a:r>
              <a:rPr lang="en-US" sz="1850" b="1" dirty="0">
                <a:solidFill>
                  <a:srgbClr val="272525"/>
                </a:solidFill>
                <a:latin typeface="Inter Bold" pitchFamily="34" charset="0"/>
                <a:ea typeface="Inter Bold" pitchFamily="34" charset="-122"/>
                <a:cs typeface="Inter Bold" pitchFamily="34" charset="-120"/>
              </a:rPr>
              <a:t>Submit Request</a:t>
            </a:r>
            <a:endParaRPr lang="en-US" sz="1850" dirty="0"/>
          </a:p>
        </p:txBody>
      </p:sp>
      <p:sp>
        <p:nvSpPr>
          <p:cNvPr id="11" name="Text 5"/>
          <p:cNvSpPr/>
          <p:nvPr/>
        </p:nvSpPr>
        <p:spPr>
          <a:xfrm>
            <a:off x="9638943" y="2812137"/>
            <a:ext cx="3423880"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Emergency Alert System</a:t>
            </a:r>
            <a:endParaRPr lang="en-US" sz="2200" dirty="0"/>
          </a:p>
        </p:txBody>
      </p:sp>
      <p:sp>
        <p:nvSpPr>
          <p:cNvPr id="12" name="Text 6"/>
          <p:cNvSpPr/>
          <p:nvPr/>
        </p:nvSpPr>
        <p:spPr>
          <a:xfrm>
            <a:off x="9638943" y="3393281"/>
            <a:ext cx="4205168" cy="322040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Gas leak detection and immediate notification</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Water leakage sensors trigger alerts</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Electrical hazard monitoring</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Real-time admin dashboard notifications</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Priority escalation for critical issues</a:t>
            </a:r>
            <a:endParaRPr lang="en-US" sz="1750" dirty="0"/>
          </a:p>
        </p:txBody>
      </p:sp>
      <p:pic>
        <p:nvPicPr>
          <p:cNvPr id="13" name="Picture 12">
            <a:extLst>
              <a:ext uri="{FF2B5EF4-FFF2-40B4-BE49-F238E27FC236}">
                <a16:creationId xmlns:a16="http://schemas.microsoft.com/office/drawing/2014/main" id="{09BBE5D4-E2A8-A9E1-DF70-EC60FCABCC6B}"/>
              </a:ext>
            </a:extLst>
          </p:cNvPr>
          <p:cNvPicPr>
            <a:picLocks noChangeAspect="1"/>
          </p:cNvPicPr>
          <p:nvPr/>
        </p:nvPicPr>
        <p:blipFill>
          <a:blip r:embed="rId7"/>
          <a:stretch>
            <a:fillRect/>
          </a:stretch>
        </p:blipFill>
        <p:spPr>
          <a:xfrm>
            <a:off x="12607356" y="7717787"/>
            <a:ext cx="1895740" cy="3905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83856" y="1143238"/>
            <a:ext cx="7949089" cy="1067038"/>
          </a:xfrm>
          <a:prstGeom prst="rect">
            <a:avLst/>
          </a:prstGeom>
          <a:noFill/>
          <a:ln/>
        </p:spPr>
        <p:txBody>
          <a:bodyPr wrap="square" lIns="0" tIns="0" rIns="0" bIns="0" rtlCol="0" anchor="t"/>
          <a:lstStyle/>
          <a:p>
            <a:pPr marL="0" indent="0" algn="l">
              <a:lnSpc>
                <a:spcPts val="4200"/>
              </a:lnSpc>
              <a:buNone/>
            </a:pPr>
            <a:r>
              <a:rPr lang="en-US" sz="3350" b="1" dirty="0">
                <a:solidFill>
                  <a:srgbClr val="000000"/>
                </a:solidFill>
                <a:latin typeface="Inter Bold" pitchFamily="34" charset="0"/>
                <a:ea typeface="Inter Bold" pitchFamily="34" charset="-122"/>
                <a:cs typeface="Inter Bold" pitchFamily="34" charset="-120"/>
              </a:rPr>
              <a:t>Impact on Sustainable Development Goals</a:t>
            </a:r>
            <a:endParaRPr lang="en-US" sz="3350" dirty="0"/>
          </a:p>
        </p:txBody>
      </p:sp>
      <p:sp>
        <p:nvSpPr>
          <p:cNvPr id="4" name="Text 1"/>
          <p:cNvSpPr/>
          <p:nvPr/>
        </p:nvSpPr>
        <p:spPr>
          <a:xfrm>
            <a:off x="6083856" y="2402919"/>
            <a:ext cx="7949089" cy="478631"/>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Our Green Lab solution goes beyond operational efficiency, making a tangible difference in achieving key Sustainable Development Goals through optimized resource management.</a:t>
            </a:r>
            <a:endParaRPr lang="en-US" sz="13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83856" y="3025973"/>
            <a:ext cx="426720" cy="426720"/>
          </a:xfrm>
          <a:prstGeom prst="rect">
            <a:avLst/>
          </a:prstGeom>
        </p:spPr>
      </p:pic>
      <p:sp>
        <p:nvSpPr>
          <p:cNvPr id="6" name="Text 2"/>
          <p:cNvSpPr/>
          <p:nvPr/>
        </p:nvSpPr>
        <p:spPr>
          <a:xfrm>
            <a:off x="6671072" y="3025973"/>
            <a:ext cx="2133838" cy="266700"/>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SDG 6: Clean Water</a:t>
            </a:r>
            <a:endParaRPr lang="en-US" sz="1650" dirty="0"/>
          </a:p>
        </p:txBody>
      </p:sp>
      <p:sp>
        <p:nvSpPr>
          <p:cNvPr id="7" name="Text 3"/>
          <p:cNvSpPr/>
          <p:nvPr/>
        </p:nvSpPr>
        <p:spPr>
          <a:xfrm>
            <a:off x="6671072" y="3369707"/>
            <a:ext cx="7361873" cy="478631"/>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Our system tracks water usage, detects leaks, and prevents waste, directly contributing to water conservation.</a:t>
            </a:r>
            <a:endParaRPr lang="en-US" sz="13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83856" y="4105275"/>
            <a:ext cx="426720" cy="426720"/>
          </a:xfrm>
          <a:prstGeom prst="rect">
            <a:avLst/>
          </a:prstGeom>
        </p:spPr>
      </p:pic>
      <p:sp>
        <p:nvSpPr>
          <p:cNvPr id="9" name="Text 4"/>
          <p:cNvSpPr/>
          <p:nvPr/>
        </p:nvSpPr>
        <p:spPr>
          <a:xfrm>
            <a:off x="6671072" y="4105275"/>
            <a:ext cx="2133838" cy="266700"/>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SDG 7: Clean Energy</a:t>
            </a:r>
            <a:endParaRPr lang="en-US" sz="1650" dirty="0"/>
          </a:p>
        </p:txBody>
      </p:sp>
      <p:sp>
        <p:nvSpPr>
          <p:cNvPr id="10" name="Text 5"/>
          <p:cNvSpPr/>
          <p:nvPr/>
        </p:nvSpPr>
        <p:spPr>
          <a:xfrm>
            <a:off x="6671072" y="4449008"/>
            <a:ext cx="7361873" cy="478631"/>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By monitoring electricity, we enable optimization, reduce consumption, and support clean energy goals.</a:t>
            </a:r>
            <a:endParaRPr lang="en-US" sz="13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83856" y="5184577"/>
            <a:ext cx="426720" cy="426720"/>
          </a:xfrm>
          <a:prstGeom prst="rect">
            <a:avLst/>
          </a:prstGeom>
        </p:spPr>
      </p:pic>
      <p:sp>
        <p:nvSpPr>
          <p:cNvPr id="12" name="Text 6"/>
          <p:cNvSpPr/>
          <p:nvPr/>
        </p:nvSpPr>
        <p:spPr>
          <a:xfrm>
            <a:off x="6671072" y="5184577"/>
            <a:ext cx="2843689" cy="266700"/>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SDG 12: Responsible Usage</a:t>
            </a:r>
            <a:endParaRPr lang="en-US" sz="1650" dirty="0"/>
          </a:p>
        </p:txBody>
      </p:sp>
      <p:sp>
        <p:nvSpPr>
          <p:cNvPr id="13" name="Text 7"/>
          <p:cNvSpPr/>
          <p:nvPr/>
        </p:nvSpPr>
        <p:spPr>
          <a:xfrm>
            <a:off x="6671072" y="5528310"/>
            <a:ext cx="7361873" cy="478631"/>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Real-time data fosters conscious resource use and minimizes unnecessary waste, aligning with responsible consumption and production.</a:t>
            </a:r>
            <a:endParaRPr lang="en-US" sz="13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83856" y="6263878"/>
            <a:ext cx="426720" cy="426720"/>
          </a:xfrm>
          <a:prstGeom prst="rect">
            <a:avLst/>
          </a:prstGeom>
        </p:spPr>
      </p:pic>
      <p:sp>
        <p:nvSpPr>
          <p:cNvPr id="15" name="Text 8"/>
          <p:cNvSpPr/>
          <p:nvPr/>
        </p:nvSpPr>
        <p:spPr>
          <a:xfrm>
            <a:off x="6671072" y="6263878"/>
            <a:ext cx="2381250" cy="266700"/>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SDG 13: Climate Action</a:t>
            </a:r>
            <a:endParaRPr lang="en-US" sz="1650" dirty="0"/>
          </a:p>
        </p:txBody>
      </p:sp>
      <p:sp>
        <p:nvSpPr>
          <p:cNvPr id="16" name="Text 9"/>
          <p:cNvSpPr/>
          <p:nvPr/>
        </p:nvSpPr>
        <p:spPr>
          <a:xfrm>
            <a:off x="6671072" y="6607612"/>
            <a:ext cx="7361873" cy="478631"/>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By saving energy and resources, we indirectly reduce carbon emissions, supporting global efforts against climate change.</a:t>
            </a:r>
            <a:endParaRPr lang="en-US" sz="1300" dirty="0"/>
          </a:p>
        </p:txBody>
      </p:sp>
      <p:pic>
        <p:nvPicPr>
          <p:cNvPr id="17" name="Picture 16">
            <a:extLst>
              <a:ext uri="{FF2B5EF4-FFF2-40B4-BE49-F238E27FC236}">
                <a16:creationId xmlns:a16="http://schemas.microsoft.com/office/drawing/2014/main" id="{9FECD543-CADA-A190-F3BA-84BED82D67A2}"/>
              </a:ext>
            </a:extLst>
          </p:cNvPr>
          <p:cNvPicPr>
            <a:picLocks noChangeAspect="1"/>
          </p:cNvPicPr>
          <p:nvPr/>
        </p:nvPicPr>
        <p:blipFill>
          <a:blip r:embed="rId8"/>
          <a:stretch>
            <a:fillRect/>
          </a:stretch>
        </p:blipFill>
        <p:spPr>
          <a:xfrm>
            <a:off x="12607356" y="7717787"/>
            <a:ext cx="1895740" cy="3905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402449" y="311825"/>
            <a:ext cx="3149322"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Dashboard &amp; Analytics</a:t>
            </a:r>
            <a:endParaRPr lang="en-US" sz="2200" dirty="0"/>
          </a:p>
        </p:txBody>
      </p:sp>
      <p:sp>
        <p:nvSpPr>
          <p:cNvPr id="3" name="Text 1"/>
          <p:cNvSpPr/>
          <p:nvPr/>
        </p:nvSpPr>
        <p:spPr>
          <a:xfrm>
            <a:off x="3402449" y="779502"/>
            <a:ext cx="7825502" cy="272177"/>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Our comprehensive dashboard provides real-time data and historical insights into resource consumption, empowering administrators and faculty to make data-driven decisions for efficiency and sustainability.</a:t>
            </a:r>
            <a:endParaRPr lang="en-US" sz="850" dirty="0"/>
          </a:p>
        </p:txBody>
      </p:sp>
      <p:pic>
        <p:nvPicPr>
          <p:cNvPr id="7" name="Image 2" descr="preencoded.png"/>
          <p:cNvPicPr>
            <a:picLocks noChangeAspect="1"/>
          </p:cNvPicPr>
          <p:nvPr/>
        </p:nvPicPr>
        <p:blipFill>
          <a:blip r:embed="rId3"/>
          <a:stretch>
            <a:fillRect/>
          </a:stretch>
        </p:blipFill>
        <p:spPr>
          <a:xfrm>
            <a:off x="7632805" y="1281630"/>
            <a:ext cx="6918644" cy="3943513"/>
          </a:xfrm>
          <a:prstGeom prst="rect">
            <a:avLst/>
          </a:prstGeom>
        </p:spPr>
      </p:pic>
      <p:sp>
        <p:nvSpPr>
          <p:cNvPr id="8" name="Text 3"/>
          <p:cNvSpPr/>
          <p:nvPr/>
        </p:nvSpPr>
        <p:spPr>
          <a:xfrm>
            <a:off x="4297567" y="7270297"/>
            <a:ext cx="294913" cy="218329"/>
          </a:xfrm>
          <a:prstGeom prst="rect">
            <a:avLst/>
          </a:prstGeom>
          <a:noFill/>
          <a:ln/>
        </p:spPr>
        <p:txBody>
          <a:bodyPr wrap="square" lIns="30480" tIns="30480" rIns="30480" bIns="30480" rtlCol="0" anchor="t"/>
          <a:lstStyle/>
          <a:p>
            <a:pPr marL="0" indent="0" algn="l">
              <a:lnSpc>
                <a:spcPts val="750"/>
              </a:lnSpc>
              <a:buNone/>
            </a:pPr>
            <a:r>
              <a:rPr lang="en-US" sz="750" dirty="0">
                <a:solidFill>
                  <a:srgbClr val="FFFFF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350</a:t>
            </a:r>
            <a:endParaRPr lang="en-US" sz="750" dirty="0"/>
          </a:p>
        </p:txBody>
      </p:sp>
      <p:sp>
        <p:nvSpPr>
          <p:cNvPr id="9" name="Text 4"/>
          <p:cNvSpPr/>
          <p:nvPr/>
        </p:nvSpPr>
        <p:spPr>
          <a:xfrm>
            <a:off x="6135585" y="6313991"/>
            <a:ext cx="294913" cy="218329"/>
          </a:xfrm>
          <a:prstGeom prst="rect">
            <a:avLst/>
          </a:prstGeom>
          <a:noFill/>
          <a:ln/>
        </p:spPr>
        <p:txBody>
          <a:bodyPr wrap="square" lIns="30480" tIns="30480" rIns="30480" bIns="30480" rtlCol="0" anchor="t"/>
          <a:lstStyle/>
          <a:p>
            <a:pPr marL="0" indent="0" algn="l">
              <a:lnSpc>
                <a:spcPts val="750"/>
              </a:lnSpc>
              <a:buNone/>
            </a:pPr>
            <a:r>
              <a:rPr lang="en-US" sz="750" dirty="0">
                <a:solidFill>
                  <a:srgbClr val="FFFFF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480</a:t>
            </a:r>
            <a:endParaRPr lang="en-US" sz="750" dirty="0"/>
          </a:p>
        </p:txBody>
      </p:sp>
      <p:sp>
        <p:nvSpPr>
          <p:cNvPr id="10" name="Text 5"/>
          <p:cNvSpPr/>
          <p:nvPr/>
        </p:nvSpPr>
        <p:spPr>
          <a:xfrm>
            <a:off x="7973604" y="7711668"/>
            <a:ext cx="294913" cy="218329"/>
          </a:xfrm>
          <a:prstGeom prst="rect">
            <a:avLst/>
          </a:prstGeom>
          <a:noFill/>
          <a:ln/>
        </p:spPr>
        <p:txBody>
          <a:bodyPr wrap="square" lIns="30480" tIns="30480" rIns="30480" bIns="30480" rtlCol="0" anchor="t"/>
          <a:lstStyle/>
          <a:p>
            <a:pPr marL="0" indent="0" algn="l">
              <a:lnSpc>
                <a:spcPts val="750"/>
              </a:lnSpc>
              <a:buNone/>
            </a:pPr>
            <a:r>
              <a:rPr lang="en-US" sz="750" dirty="0">
                <a:solidFill>
                  <a:srgbClr val="FFFFF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290</a:t>
            </a:r>
            <a:endParaRPr lang="en-US" sz="750" dirty="0"/>
          </a:p>
        </p:txBody>
      </p:sp>
      <p:sp>
        <p:nvSpPr>
          <p:cNvPr id="11" name="Text 6"/>
          <p:cNvSpPr/>
          <p:nvPr/>
        </p:nvSpPr>
        <p:spPr>
          <a:xfrm>
            <a:off x="9811624" y="6755363"/>
            <a:ext cx="294912" cy="218329"/>
          </a:xfrm>
          <a:prstGeom prst="rect">
            <a:avLst/>
          </a:prstGeom>
          <a:noFill/>
          <a:ln/>
        </p:spPr>
        <p:txBody>
          <a:bodyPr wrap="square" lIns="30480" tIns="30480" rIns="30480" bIns="30480" rtlCol="0" anchor="t"/>
          <a:lstStyle/>
          <a:p>
            <a:pPr marL="0" indent="0" algn="l">
              <a:lnSpc>
                <a:spcPts val="750"/>
              </a:lnSpc>
              <a:buNone/>
            </a:pPr>
            <a:r>
              <a:rPr lang="en-US" sz="7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420</a:t>
            </a:r>
            <a:endParaRPr lang="en-US" sz="750" dirty="0"/>
          </a:p>
        </p:txBody>
      </p:sp>
      <p:sp>
        <p:nvSpPr>
          <p:cNvPr id="12" name="Text 7"/>
          <p:cNvSpPr/>
          <p:nvPr/>
        </p:nvSpPr>
        <p:spPr>
          <a:xfrm>
            <a:off x="3402449" y="10343078"/>
            <a:ext cx="7825502" cy="272177"/>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The column chart above compares electricity consumption across different labs, revealing that the Chemistry Lab has the highest usage. This type of data helps identify areas for potential energy savings and targeted interventions.</a:t>
            </a:r>
            <a:endParaRPr lang="en-US" sz="850" dirty="0"/>
          </a:p>
        </p:txBody>
      </p:sp>
      <p:pic>
        <p:nvPicPr>
          <p:cNvPr id="14" name="Image 0" descr="preencoded.png">
            <a:extLst>
              <a:ext uri="{FF2B5EF4-FFF2-40B4-BE49-F238E27FC236}">
                <a16:creationId xmlns:a16="http://schemas.microsoft.com/office/drawing/2014/main" id="{DD8048BE-00F5-56AD-E814-29EC2F97DF16}"/>
              </a:ext>
            </a:extLst>
          </p:cNvPr>
          <p:cNvPicPr>
            <a:picLocks noChangeAspect="1"/>
          </p:cNvPicPr>
          <p:nvPr/>
        </p:nvPicPr>
        <p:blipFill>
          <a:blip r:embed="rId4"/>
          <a:stretch>
            <a:fillRect/>
          </a:stretch>
        </p:blipFill>
        <p:spPr>
          <a:xfrm>
            <a:off x="147864" y="1115378"/>
            <a:ext cx="7825740" cy="4460543"/>
          </a:xfrm>
          <a:prstGeom prst="rect">
            <a:avLst/>
          </a:prstGeom>
        </p:spPr>
      </p:pic>
      <p:pic>
        <p:nvPicPr>
          <p:cNvPr id="15" name="Image 1" descr="preencoded.png">
            <a:extLst>
              <a:ext uri="{FF2B5EF4-FFF2-40B4-BE49-F238E27FC236}">
                <a16:creationId xmlns:a16="http://schemas.microsoft.com/office/drawing/2014/main" id="{4E1E5699-A6C5-E5EE-625F-6CAE0152C474}"/>
              </a:ext>
            </a:extLst>
          </p:cNvPr>
          <p:cNvPicPr>
            <a:picLocks noChangeAspect="1"/>
          </p:cNvPicPr>
          <p:nvPr/>
        </p:nvPicPr>
        <p:blipFill>
          <a:blip r:embed="rId5"/>
          <a:stretch>
            <a:fillRect/>
          </a:stretch>
        </p:blipFill>
        <p:spPr>
          <a:xfrm>
            <a:off x="147864" y="1115378"/>
            <a:ext cx="7825740" cy="4386533"/>
          </a:xfrm>
          <a:prstGeom prst="rect">
            <a:avLst/>
          </a:prstGeom>
        </p:spPr>
      </p:pic>
      <p:sp>
        <p:nvSpPr>
          <p:cNvPr id="16" name="Text 2">
            <a:extLst>
              <a:ext uri="{FF2B5EF4-FFF2-40B4-BE49-F238E27FC236}">
                <a16:creationId xmlns:a16="http://schemas.microsoft.com/office/drawing/2014/main" id="{DE074F80-EB7A-5CF0-33B5-9DCFA9513AA9}"/>
              </a:ext>
            </a:extLst>
          </p:cNvPr>
          <p:cNvSpPr/>
          <p:nvPr/>
        </p:nvSpPr>
        <p:spPr>
          <a:xfrm>
            <a:off x="3614546" y="6066335"/>
            <a:ext cx="7825502" cy="272177"/>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This line graph illustrates a downward trend in water usage over six weeks, demonstrating the positive impact of monitoring and awareness. The dashboard highlights deviations from set targets, such as the initial weeks exceeding our 1500-liter goal.</a:t>
            </a:r>
            <a:endParaRPr lang="en-US" sz="850" dirty="0"/>
          </a:p>
        </p:txBody>
      </p:sp>
      <p:pic>
        <p:nvPicPr>
          <p:cNvPr id="17" name="Picture 16">
            <a:extLst>
              <a:ext uri="{FF2B5EF4-FFF2-40B4-BE49-F238E27FC236}">
                <a16:creationId xmlns:a16="http://schemas.microsoft.com/office/drawing/2014/main" id="{878267DE-FEFA-D7F9-243C-DF95229122FF}"/>
              </a:ext>
            </a:extLst>
          </p:cNvPr>
          <p:cNvPicPr>
            <a:picLocks noChangeAspect="1"/>
          </p:cNvPicPr>
          <p:nvPr/>
        </p:nvPicPr>
        <p:blipFill>
          <a:blip r:embed="rId6"/>
          <a:stretch>
            <a:fillRect/>
          </a:stretch>
        </p:blipFill>
        <p:spPr>
          <a:xfrm>
            <a:off x="12607356" y="7717787"/>
            <a:ext cx="1895740" cy="3905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916549"/>
            <a:ext cx="11671816"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Impact on Sustainable Development Goals</a:t>
            </a:r>
            <a:endParaRPr lang="en-US" sz="4450" dirty="0"/>
          </a:p>
        </p:txBody>
      </p:sp>
      <p:sp>
        <p:nvSpPr>
          <p:cNvPr id="3" name="Shape 1"/>
          <p:cNvSpPr/>
          <p:nvPr/>
        </p:nvSpPr>
        <p:spPr>
          <a:xfrm>
            <a:off x="793790" y="3078956"/>
            <a:ext cx="6407944" cy="1685092"/>
          </a:xfrm>
          <a:prstGeom prst="roundRect">
            <a:avLst>
              <a:gd name="adj" fmla="val 5654"/>
            </a:avLst>
          </a:prstGeom>
          <a:solidFill>
            <a:srgbClr val="DADBF1"/>
          </a:solidFill>
          <a:ln w="7620">
            <a:solidFill>
              <a:srgbClr val="C0C1D7"/>
            </a:solidFill>
            <a:prstDash val="solid"/>
          </a:ln>
        </p:spPr>
      </p:sp>
      <p:sp>
        <p:nvSpPr>
          <p:cNvPr id="4" name="Text 2"/>
          <p:cNvSpPr/>
          <p:nvPr/>
        </p:nvSpPr>
        <p:spPr>
          <a:xfrm>
            <a:off x="1028224" y="331339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SDG 6: Clean Water</a:t>
            </a:r>
            <a:endParaRPr lang="en-US" sz="2200" dirty="0"/>
          </a:p>
        </p:txBody>
      </p:sp>
      <p:sp>
        <p:nvSpPr>
          <p:cNvPr id="5" name="Text 3"/>
          <p:cNvSpPr/>
          <p:nvPr/>
        </p:nvSpPr>
        <p:spPr>
          <a:xfrm>
            <a:off x="1028224" y="3803809"/>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Reduced water waste through leak detection and usage monitoring</a:t>
            </a:r>
            <a:endParaRPr lang="en-US" sz="1750" dirty="0"/>
          </a:p>
        </p:txBody>
      </p:sp>
      <p:sp>
        <p:nvSpPr>
          <p:cNvPr id="6" name="Shape 4"/>
          <p:cNvSpPr/>
          <p:nvPr/>
        </p:nvSpPr>
        <p:spPr>
          <a:xfrm>
            <a:off x="7428548" y="3078956"/>
            <a:ext cx="6408063" cy="1685092"/>
          </a:xfrm>
          <a:prstGeom prst="roundRect">
            <a:avLst>
              <a:gd name="adj" fmla="val 5654"/>
            </a:avLst>
          </a:prstGeom>
          <a:solidFill>
            <a:srgbClr val="DADBF1"/>
          </a:solidFill>
          <a:ln w="7620">
            <a:solidFill>
              <a:srgbClr val="C0C1D7"/>
            </a:solidFill>
            <a:prstDash val="solid"/>
          </a:ln>
        </p:spPr>
      </p:sp>
      <p:sp>
        <p:nvSpPr>
          <p:cNvPr id="7" name="Text 5"/>
          <p:cNvSpPr/>
          <p:nvPr/>
        </p:nvSpPr>
        <p:spPr>
          <a:xfrm>
            <a:off x="7662982" y="331339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SDG 7: Clean Energy</a:t>
            </a:r>
            <a:endParaRPr lang="en-US" sz="2200" dirty="0"/>
          </a:p>
        </p:txBody>
      </p:sp>
      <p:sp>
        <p:nvSpPr>
          <p:cNvPr id="8" name="Text 6"/>
          <p:cNvSpPr/>
          <p:nvPr/>
        </p:nvSpPr>
        <p:spPr>
          <a:xfrm>
            <a:off x="7662982" y="3803809"/>
            <a:ext cx="593919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Optimized electricity consumption and reduced carbon footprint</a:t>
            </a:r>
            <a:endParaRPr lang="en-US" sz="1750" dirty="0"/>
          </a:p>
        </p:txBody>
      </p:sp>
      <p:sp>
        <p:nvSpPr>
          <p:cNvPr id="9" name="Shape 7"/>
          <p:cNvSpPr/>
          <p:nvPr/>
        </p:nvSpPr>
        <p:spPr>
          <a:xfrm>
            <a:off x="793790" y="4990862"/>
            <a:ext cx="6407944" cy="1322189"/>
          </a:xfrm>
          <a:prstGeom prst="roundRect">
            <a:avLst>
              <a:gd name="adj" fmla="val 7205"/>
            </a:avLst>
          </a:prstGeom>
          <a:solidFill>
            <a:srgbClr val="DADBF1"/>
          </a:solidFill>
          <a:ln w="7620">
            <a:solidFill>
              <a:srgbClr val="C0C1D7"/>
            </a:solidFill>
            <a:prstDash val="solid"/>
          </a:ln>
        </p:spPr>
      </p:sp>
      <p:sp>
        <p:nvSpPr>
          <p:cNvPr id="10" name="Text 8"/>
          <p:cNvSpPr/>
          <p:nvPr/>
        </p:nvSpPr>
        <p:spPr>
          <a:xfrm>
            <a:off x="1028224" y="5225296"/>
            <a:ext cx="476119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SDG 12: Responsible Consumption</a:t>
            </a:r>
            <a:endParaRPr lang="en-US" sz="2200" dirty="0"/>
          </a:p>
        </p:txBody>
      </p:sp>
      <p:sp>
        <p:nvSpPr>
          <p:cNvPr id="11" name="Text 9"/>
          <p:cNvSpPr/>
          <p:nvPr/>
        </p:nvSpPr>
        <p:spPr>
          <a:xfrm>
            <a:off x="1028224" y="5715714"/>
            <a:ext cx="59390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Efficient resource management and waste reduction</a:t>
            </a:r>
            <a:endParaRPr lang="en-US" sz="1750" dirty="0"/>
          </a:p>
        </p:txBody>
      </p:sp>
      <p:sp>
        <p:nvSpPr>
          <p:cNvPr id="12" name="Shape 10"/>
          <p:cNvSpPr/>
          <p:nvPr/>
        </p:nvSpPr>
        <p:spPr>
          <a:xfrm>
            <a:off x="7428548" y="4990862"/>
            <a:ext cx="6408063" cy="1322189"/>
          </a:xfrm>
          <a:prstGeom prst="roundRect">
            <a:avLst>
              <a:gd name="adj" fmla="val 7205"/>
            </a:avLst>
          </a:prstGeom>
          <a:solidFill>
            <a:srgbClr val="DADBF1"/>
          </a:solidFill>
          <a:ln w="7620">
            <a:solidFill>
              <a:srgbClr val="C0C1D7"/>
            </a:solidFill>
            <a:prstDash val="solid"/>
          </a:ln>
        </p:spPr>
      </p:sp>
      <p:sp>
        <p:nvSpPr>
          <p:cNvPr id="13" name="Text 11"/>
          <p:cNvSpPr/>
          <p:nvPr/>
        </p:nvSpPr>
        <p:spPr>
          <a:xfrm>
            <a:off x="7662982" y="5225296"/>
            <a:ext cx="3162657"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SDG 13: Climate Action</a:t>
            </a:r>
            <a:endParaRPr lang="en-US" sz="2200" dirty="0"/>
          </a:p>
        </p:txBody>
      </p:sp>
      <p:sp>
        <p:nvSpPr>
          <p:cNvPr id="14" name="Text 12"/>
          <p:cNvSpPr/>
          <p:nvPr/>
        </p:nvSpPr>
        <p:spPr>
          <a:xfrm>
            <a:off x="7662982" y="5715714"/>
            <a:ext cx="593919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Lower emissions through reduced resource waste</a:t>
            </a:r>
            <a:endParaRPr lang="en-US" sz="1750" dirty="0"/>
          </a:p>
        </p:txBody>
      </p:sp>
      <p:pic>
        <p:nvPicPr>
          <p:cNvPr id="15" name="Picture 14">
            <a:extLst>
              <a:ext uri="{FF2B5EF4-FFF2-40B4-BE49-F238E27FC236}">
                <a16:creationId xmlns:a16="http://schemas.microsoft.com/office/drawing/2014/main" id="{CE966945-A7D5-3FDB-C48E-36475B81F4F9}"/>
              </a:ext>
            </a:extLst>
          </p:cNvPr>
          <p:cNvPicPr>
            <a:picLocks noChangeAspect="1"/>
          </p:cNvPicPr>
          <p:nvPr/>
        </p:nvPicPr>
        <p:blipFill>
          <a:blip r:embed="rId3"/>
          <a:stretch>
            <a:fillRect/>
          </a:stretch>
        </p:blipFill>
        <p:spPr>
          <a:xfrm>
            <a:off x="12607356" y="7717787"/>
            <a:ext cx="1895740" cy="3905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28675"/>
            <a:ext cx="569118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System Architecture</a:t>
            </a:r>
            <a:endParaRPr lang="en-US" sz="4450" dirty="0"/>
          </a:p>
        </p:txBody>
      </p:sp>
      <p:sp>
        <p:nvSpPr>
          <p:cNvPr id="4" name="Text 1"/>
          <p:cNvSpPr/>
          <p:nvPr/>
        </p:nvSpPr>
        <p:spPr>
          <a:xfrm>
            <a:off x="6280190" y="1877616"/>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Our platform's robust architecture ensures seamless data flow, from initial collection to final presentation for administrative insights and control.</a:t>
            </a:r>
            <a:endParaRPr lang="en-US" sz="1750" dirty="0"/>
          </a:p>
        </p:txBody>
      </p:sp>
      <p:pic>
        <p:nvPicPr>
          <p:cNvPr id="5" name="Image 1" descr="preencoded.png"/>
          <p:cNvPicPr>
            <a:picLocks noChangeAspect="1"/>
          </p:cNvPicPr>
          <p:nvPr/>
        </p:nvPicPr>
        <p:blipFill>
          <a:blip r:embed="rId4"/>
          <a:stretch>
            <a:fillRect/>
          </a:stretch>
        </p:blipFill>
        <p:spPr>
          <a:xfrm>
            <a:off x="6280190" y="3221474"/>
            <a:ext cx="7556421" cy="2835473"/>
          </a:xfrm>
          <a:prstGeom prst="rect">
            <a:avLst/>
          </a:prstGeom>
        </p:spPr>
      </p:pic>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733416" y="3943720"/>
            <a:ext cx="390314" cy="390314"/>
          </a:xfrm>
          <a:prstGeom prst="rect">
            <a:avLst/>
          </a:prstGeom>
        </p:spPr>
      </p:pic>
      <p:sp>
        <p:nvSpPr>
          <p:cNvPr id="7" name="Text 2"/>
          <p:cNvSpPr/>
          <p:nvPr/>
        </p:nvSpPr>
        <p:spPr>
          <a:xfrm>
            <a:off x="12385671" y="5258834"/>
            <a:ext cx="1139717" cy="439103"/>
          </a:xfrm>
          <a:prstGeom prst="rect">
            <a:avLst/>
          </a:prstGeom>
          <a:noFill/>
          <a:ln/>
        </p:spPr>
        <p:txBody>
          <a:bodyPr wrap="square" lIns="0" tIns="0" rIns="0" bIns="0" rtlCol="0" anchor="t"/>
          <a:lstStyle/>
          <a:p>
            <a:pPr marL="0" indent="0" algn="ctr">
              <a:lnSpc>
                <a:spcPts val="1700"/>
              </a:lnSpc>
              <a:buNone/>
            </a:pPr>
            <a:r>
              <a:rPr lang="en-US" sz="1350" b="1" dirty="0">
                <a:solidFill>
                  <a:srgbClr val="272525"/>
                </a:solidFill>
                <a:latin typeface="Inter Bold" pitchFamily="34" charset="0"/>
                <a:ea typeface="Inter Bold" pitchFamily="34" charset="-122"/>
                <a:cs typeface="Inter Bold" pitchFamily="34" charset="-120"/>
              </a:rPr>
              <a:t>Administrator</a:t>
            </a:r>
            <a:endParaRPr lang="en-US" sz="135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04501" y="3944452"/>
            <a:ext cx="390315" cy="390314"/>
          </a:xfrm>
          <a:prstGeom prst="rect">
            <a:avLst/>
          </a:prstGeom>
        </p:spPr>
      </p:pic>
      <p:sp>
        <p:nvSpPr>
          <p:cNvPr id="9" name="Text 3"/>
          <p:cNvSpPr/>
          <p:nvPr/>
        </p:nvSpPr>
        <p:spPr>
          <a:xfrm>
            <a:off x="10949315" y="5368610"/>
            <a:ext cx="1139717" cy="219552"/>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Inter Bold" pitchFamily="34" charset="0"/>
                <a:ea typeface="Inter Bold" pitchFamily="34" charset="-122"/>
                <a:cs typeface="Inter Bold" pitchFamily="34" charset="-120"/>
              </a:rPr>
              <a:t>Dashboard</a:t>
            </a:r>
            <a:endParaRPr lang="en-US" sz="1350" dirty="0"/>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75952" y="3944452"/>
            <a:ext cx="390314" cy="390314"/>
          </a:xfrm>
          <a:prstGeom prst="rect">
            <a:avLst/>
          </a:prstGeom>
        </p:spPr>
      </p:pic>
      <p:sp>
        <p:nvSpPr>
          <p:cNvPr id="11" name="Text 4"/>
          <p:cNvSpPr/>
          <p:nvPr/>
        </p:nvSpPr>
        <p:spPr>
          <a:xfrm>
            <a:off x="9520766" y="5368610"/>
            <a:ext cx="1139716" cy="219552"/>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Inter Bold" pitchFamily="34" charset="0"/>
                <a:ea typeface="Inter Bold" pitchFamily="34" charset="-122"/>
                <a:cs typeface="Inter Bold" pitchFamily="34" charset="-120"/>
              </a:rPr>
              <a:t>Database</a:t>
            </a:r>
            <a:endParaRPr lang="en-US" sz="1350" dirty="0"/>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47403" y="3944452"/>
            <a:ext cx="390314" cy="390314"/>
          </a:xfrm>
          <a:prstGeom prst="rect">
            <a:avLst/>
          </a:prstGeom>
        </p:spPr>
      </p:pic>
      <p:sp>
        <p:nvSpPr>
          <p:cNvPr id="13" name="Text 5"/>
          <p:cNvSpPr/>
          <p:nvPr/>
        </p:nvSpPr>
        <p:spPr>
          <a:xfrm>
            <a:off x="8092217" y="5368610"/>
            <a:ext cx="1139716" cy="219552"/>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Inter Bold" pitchFamily="34" charset="0"/>
                <a:ea typeface="Inter Bold" pitchFamily="34" charset="-122"/>
                <a:cs typeface="Inter Bold" pitchFamily="34" charset="-120"/>
              </a:rPr>
              <a:t>Transmit</a:t>
            </a:r>
            <a:endParaRPr lang="en-US" sz="1350" dirty="0"/>
          </a:p>
        </p:txBody>
      </p:sp>
      <p:pic>
        <p:nvPicPr>
          <p:cNvPr id="1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11046" y="3944452"/>
            <a:ext cx="390314" cy="390314"/>
          </a:xfrm>
          <a:prstGeom prst="rect">
            <a:avLst/>
          </a:prstGeom>
        </p:spPr>
      </p:pic>
      <p:sp>
        <p:nvSpPr>
          <p:cNvPr id="15" name="Text 6"/>
          <p:cNvSpPr/>
          <p:nvPr/>
        </p:nvSpPr>
        <p:spPr>
          <a:xfrm>
            <a:off x="6632442" y="5368610"/>
            <a:ext cx="1139717" cy="219552"/>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Inter Bold" pitchFamily="34" charset="0"/>
                <a:ea typeface="Inter Bold" pitchFamily="34" charset="-122"/>
                <a:cs typeface="Inter Bold" pitchFamily="34" charset="-120"/>
              </a:rPr>
              <a:t>Sensors</a:t>
            </a:r>
            <a:endParaRPr lang="en-US" sz="1350" dirty="0"/>
          </a:p>
        </p:txBody>
      </p:sp>
      <p:sp>
        <p:nvSpPr>
          <p:cNvPr id="16" name="Text 7"/>
          <p:cNvSpPr/>
          <p:nvPr/>
        </p:nvSpPr>
        <p:spPr>
          <a:xfrm>
            <a:off x="6280190" y="6312098"/>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structured approach guarantees reliability, scalability, and security across all monitoring and management functions, providing a comprehensive solution for smart lab operations.</a:t>
            </a:r>
            <a:endParaRPr lang="en-US" sz="1750" dirty="0"/>
          </a:p>
        </p:txBody>
      </p:sp>
      <p:pic>
        <p:nvPicPr>
          <p:cNvPr id="17" name="Picture 16">
            <a:extLst>
              <a:ext uri="{FF2B5EF4-FFF2-40B4-BE49-F238E27FC236}">
                <a16:creationId xmlns:a16="http://schemas.microsoft.com/office/drawing/2014/main" id="{41EC41E6-3469-C7BF-2ED7-7273360464DE}"/>
              </a:ext>
            </a:extLst>
          </p:cNvPr>
          <p:cNvPicPr>
            <a:picLocks noChangeAspect="1"/>
          </p:cNvPicPr>
          <p:nvPr/>
        </p:nvPicPr>
        <p:blipFill>
          <a:blip r:embed="rId10"/>
          <a:stretch>
            <a:fillRect/>
          </a:stretch>
        </p:blipFill>
        <p:spPr>
          <a:xfrm>
            <a:off x="12607356" y="7717787"/>
            <a:ext cx="1895740" cy="3905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1957" y="1509593"/>
            <a:ext cx="4979670" cy="576382"/>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Inter Bold" pitchFamily="34" charset="0"/>
                <a:ea typeface="Inter Bold" pitchFamily="34" charset="-122"/>
                <a:cs typeface="Inter Bold" pitchFamily="34" charset="-120"/>
              </a:rPr>
              <a:t>Our Technology Stack</a:t>
            </a:r>
            <a:endParaRPr lang="en-US" sz="36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31957" y="2311003"/>
            <a:ext cx="461129" cy="461129"/>
          </a:xfrm>
          <a:prstGeom prst="rect">
            <a:avLst/>
          </a:prstGeom>
        </p:spPr>
      </p:pic>
      <p:sp>
        <p:nvSpPr>
          <p:cNvPr id="5" name="Text 1"/>
          <p:cNvSpPr/>
          <p:nvPr/>
        </p:nvSpPr>
        <p:spPr>
          <a:xfrm>
            <a:off x="6780609" y="2311003"/>
            <a:ext cx="2305764" cy="28825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Next.js</a:t>
            </a:r>
            <a:endParaRPr lang="en-US" sz="1800" dirty="0"/>
          </a:p>
        </p:txBody>
      </p:sp>
      <p:sp>
        <p:nvSpPr>
          <p:cNvPr id="6" name="Text 2"/>
          <p:cNvSpPr/>
          <p:nvPr/>
        </p:nvSpPr>
        <p:spPr>
          <a:xfrm>
            <a:off x="6780609" y="2689265"/>
            <a:ext cx="3183969" cy="802243"/>
          </a:xfrm>
          <a:prstGeom prst="rect">
            <a:avLst/>
          </a:prstGeom>
          <a:noFill/>
          <a:ln/>
        </p:spPr>
        <p:txBody>
          <a:bodyPr wrap="square" lIns="0" tIns="0" rIns="0" bIns="0" rtlCol="0" anchor="t"/>
          <a:lstStyle/>
          <a:p>
            <a:pPr marL="0" indent="0" algn="l">
              <a:lnSpc>
                <a:spcPts val="2100"/>
              </a:lnSpc>
              <a:buNone/>
            </a:pPr>
            <a:r>
              <a:rPr lang="en-US" sz="1450" dirty="0">
                <a:solidFill>
                  <a:srgbClr val="272525"/>
                </a:solidFill>
                <a:latin typeface="Inter" pitchFamily="34" charset="0"/>
                <a:ea typeface="Inter" pitchFamily="34" charset="-122"/>
                <a:cs typeface="Inter" pitchFamily="34" charset="-120"/>
              </a:rPr>
              <a:t>React framework for building high-performance and scalable web applications.</a:t>
            </a:r>
            <a:endParaRPr lang="en-US" sz="14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52102" y="2311003"/>
            <a:ext cx="461129" cy="461129"/>
          </a:xfrm>
          <a:prstGeom prst="rect">
            <a:avLst/>
          </a:prstGeom>
        </p:spPr>
      </p:pic>
      <p:sp>
        <p:nvSpPr>
          <p:cNvPr id="8" name="Text 3"/>
          <p:cNvSpPr/>
          <p:nvPr/>
        </p:nvSpPr>
        <p:spPr>
          <a:xfrm>
            <a:off x="10800755" y="2311003"/>
            <a:ext cx="2305764" cy="28825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Supabase</a:t>
            </a:r>
            <a:endParaRPr lang="en-US" sz="1800" dirty="0"/>
          </a:p>
        </p:txBody>
      </p:sp>
      <p:sp>
        <p:nvSpPr>
          <p:cNvPr id="9" name="Text 4"/>
          <p:cNvSpPr/>
          <p:nvPr/>
        </p:nvSpPr>
        <p:spPr>
          <a:xfrm>
            <a:off x="10800755" y="2689265"/>
            <a:ext cx="3184088" cy="802243"/>
          </a:xfrm>
          <a:prstGeom prst="rect">
            <a:avLst/>
          </a:prstGeom>
          <a:noFill/>
          <a:ln/>
        </p:spPr>
        <p:txBody>
          <a:bodyPr wrap="square" lIns="0" tIns="0" rIns="0" bIns="0" rtlCol="0" anchor="t"/>
          <a:lstStyle/>
          <a:p>
            <a:pPr marL="0" indent="0" algn="l">
              <a:lnSpc>
                <a:spcPts val="2100"/>
              </a:lnSpc>
              <a:buNone/>
            </a:pPr>
            <a:r>
              <a:rPr lang="en-US" sz="1450" dirty="0">
                <a:solidFill>
                  <a:srgbClr val="272525"/>
                </a:solidFill>
                <a:latin typeface="Inter" pitchFamily="34" charset="0"/>
                <a:ea typeface="Inter" pitchFamily="34" charset="-122"/>
                <a:cs typeface="Inter" pitchFamily="34" charset="-120"/>
              </a:rPr>
              <a:t>Open-source backend platform providing database, authentication, and real-time APIs.</a:t>
            </a:r>
            <a:endParaRPr lang="en-US" sz="14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31957" y="3791545"/>
            <a:ext cx="461129" cy="461129"/>
          </a:xfrm>
          <a:prstGeom prst="rect">
            <a:avLst/>
          </a:prstGeom>
        </p:spPr>
      </p:pic>
      <p:sp>
        <p:nvSpPr>
          <p:cNvPr id="11" name="Text 5"/>
          <p:cNvSpPr/>
          <p:nvPr/>
        </p:nvSpPr>
        <p:spPr>
          <a:xfrm>
            <a:off x="6780609" y="3791545"/>
            <a:ext cx="2453640" cy="28825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PostgreSQL Database</a:t>
            </a:r>
            <a:endParaRPr lang="en-US" sz="1800" dirty="0"/>
          </a:p>
        </p:txBody>
      </p:sp>
      <p:sp>
        <p:nvSpPr>
          <p:cNvPr id="12" name="Text 6"/>
          <p:cNvSpPr/>
          <p:nvPr/>
        </p:nvSpPr>
        <p:spPr>
          <a:xfrm>
            <a:off x="6780609" y="4169807"/>
            <a:ext cx="3183969" cy="802243"/>
          </a:xfrm>
          <a:prstGeom prst="rect">
            <a:avLst/>
          </a:prstGeom>
          <a:noFill/>
          <a:ln/>
        </p:spPr>
        <p:txBody>
          <a:bodyPr wrap="square" lIns="0" tIns="0" rIns="0" bIns="0" rtlCol="0" anchor="t"/>
          <a:lstStyle/>
          <a:p>
            <a:pPr marL="0" indent="0" algn="l">
              <a:lnSpc>
                <a:spcPts val="2100"/>
              </a:lnSpc>
              <a:buNone/>
            </a:pPr>
            <a:r>
              <a:rPr lang="en-US" sz="1450" dirty="0">
                <a:solidFill>
                  <a:srgbClr val="272525"/>
                </a:solidFill>
                <a:latin typeface="Inter" pitchFamily="34" charset="0"/>
                <a:ea typeface="Inter" pitchFamily="34" charset="-122"/>
                <a:cs typeface="Inter" pitchFamily="34" charset="-120"/>
              </a:rPr>
              <a:t>Reliable and robust relational database for secure storage of all lab data.</a:t>
            </a:r>
            <a:endParaRPr lang="en-US" sz="145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52102" y="3791545"/>
            <a:ext cx="461129" cy="461129"/>
          </a:xfrm>
          <a:prstGeom prst="rect">
            <a:avLst/>
          </a:prstGeom>
        </p:spPr>
      </p:pic>
      <p:sp>
        <p:nvSpPr>
          <p:cNvPr id="14" name="Text 7"/>
          <p:cNvSpPr/>
          <p:nvPr/>
        </p:nvSpPr>
        <p:spPr>
          <a:xfrm>
            <a:off x="10800755" y="3791545"/>
            <a:ext cx="2305764" cy="28825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Charts</a:t>
            </a:r>
            <a:endParaRPr lang="en-US" sz="1800" dirty="0"/>
          </a:p>
        </p:txBody>
      </p:sp>
      <p:sp>
        <p:nvSpPr>
          <p:cNvPr id="15" name="Text 8"/>
          <p:cNvSpPr/>
          <p:nvPr/>
        </p:nvSpPr>
        <p:spPr>
          <a:xfrm>
            <a:off x="10800755" y="4169807"/>
            <a:ext cx="3184088" cy="802243"/>
          </a:xfrm>
          <a:prstGeom prst="rect">
            <a:avLst/>
          </a:prstGeom>
          <a:noFill/>
          <a:ln/>
        </p:spPr>
        <p:txBody>
          <a:bodyPr wrap="square" lIns="0" tIns="0" rIns="0" bIns="0" rtlCol="0" anchor="t"/>
          <a:lstStyle/>
          <a:p>
            <a:pPr marL="0" indent="0" algn="l">
              <a:lnSpc>
                <a:spcPts val="2100"/>
              </a:lnSpc>
              <a:buNone/>
            </a:pPr>
            <a:r>
              <a:rPr lang="en-US" sz="1450" dirty="0">
                <a:solidFill>
                  <a:srgbClr val="272525"/>
                </a:solidFill>
                <a:latin typeface="Inter" pitchFamily="34" charset="0"/>
                <a:ea typeface="Inter" pitchFamily="34" charset="-122"/>
                <a:cs typeface="Inter" pitchFamily="34" charset="-120"/>
              </a:rPr>
              <a:t>Interactive data visualizations for clear, real-time insights into resource consumption and trends.</a:t>
            </a:r>
            <a:endParaRPr lang="en-US" sz="145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31957" y="5272088"/>
            <a:ext cx="461129" cy="461129"/>
          </a:xfrm>
          <a:prstGeom prst="rect">
            <a:avLst/>
          </a:prstGeom>
        </p:spPr>
      </p:pic>
      <p:sp>
        <p:nvSpPr>
          <p:cNvPr id="17" name="Text 9"/>
          <p:cNvSpPr/>
          <p:nvPr/>
        </p:nvSpPr>
        <p:spPr>
          <a:xfrm>
            <a:off x="6780609" y="5272088"/>
            <a:ext cx="2305764" cy="28825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API</a:t>
            </a:r>
            <a:endParaRPr lang="en-US" sz="1800" dirty="0"/>
          </a:p>
        </p:txBody>
      </p:sp>
      <p:sp>
        <p:nvSpPr>
          <p:cNvPr id="18" name="Text 10"/>
          <p:cNvSpPr/>
          <p:nvPr/>
        </p:nvSpPr>
        <p:spPr>
          <a:xfrm>
            <a:off x="6780609" y="5650349"/>
            <a:ext cx="3183969" cy="1069658"/>
          </a:xfrm>
          <a:prstGeom prst="rect">
            <a:avLst/>
          </a:prstGeom>
          <a:noFill/>
          <a:ln/>
        </p:spPr>
        <p:txBody>
          <a:bodyPr wrap="square" lIns="0" tIns="0" rIns="0" bIns="0" rtlCol="0" anchor="t"/>
          <a:lstStyle/>
          <a:p>
            <a:pPr marL="0" indent="0" algn="l">
              <a:lnSpc>
                <a:spcPts val="2100"/>
              </a:lnSpc>
              <a:buNone/>
            </a:pPr>
            <a:r>
              <a:rPr lang="en-US" sz="1450" dirty="0">
                <a:solidFill>
                  <a:srgbClr val="272525"/>
                </a:solidFill>
                <a:latin typeface="Inter" pitchFamily="34" charset="0"/>
                <a:ea typeface="Inter" pitchFamily="34" charset="-122"/>
                <a:cs typeface="Inter" pitchFamily="34" charset="-120"/>
              </a:rPr>
              <a:t>Seamless integration ensuring smooth communication between all front-end and back-end components.</a:t>
            </a:r>
            <a:endParaRPr lang="en-US" sz="1450" dirty="0"/>
          </a:p>
        </p:txBody>
      </p:sp>
      <p:pic>
        <p:nvPicPr>
          <p:cNvPr id="19" name="Picture 18">
            <a:extLst>
              <a:ext uri="{FF2B5EF4-FFF2-40B4-BE49-F238E27FC236}">
                <a16:creationId xmlns:a16="http://schemas.microsoft.com/office/drawing/2014/main" id="{BBB6BA0A-8C70-56F4-0B3F-FB8E0ACCC519}"/>
              </a:ext>
            </a:extLst>
          </p:cNvPr>
          <p:cNvPicPr>
            <a:picLocks noChangeAspect="1"/>
          </p:cNvPicPr>
          <p:nvPr/>
        </p:nvPicPr>
        <p:blipFill>
          <a:blip r:embed="rId9"/>
          <a:stretch>
            <a:fillRect/>
          </a:stretch>
        </p:blipFill>
        <p:spPr>
          <a:xfrm>
            <a:off x="12607356" y="7717787"/>
            <a:ext cx="1895740" cy="3905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93392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Future Vision </a:t>
            </a:r>
            <a:endParaRPr lang="en-US" sz="44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3790" y="1982867"/>
            <a:ext cx="566976" cy="566976"/>
          </a:xfrm>
          <a:prstGeom prst="rect">
            <a:avLst/>
          </a:prstGeom>
        </p:spPr>
      </p:pic>
      <p:sp>
        <p:nvSpPr>
          <p:cNvPr id="6" name="Text 2"/>
          <p:cNvSpPr/>
          <p:nvPr/>
        </p:nvSpPr>
        <p:spPr>
          <a:xfrm>
            <a:off x="793790" y="2833330"/>
            <a:ext cx="3276243"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AI-Powered Predictions</a:t>
            </a:r>
            <a:endParaRPr lang="en-US" sz="2200" dirty="0"/>
          </a:p>
        </p:txBody>
      </p:sp>
      <p:sp>
        <p:nvSpPr>
          <p:cNvPr id="7" name="Text 3"/>
          <p:cNvSpPr/>
          <p:nvPr/>
        </p:nvSpPr>
        <p:spPr>
          <a:xfrm>
            <a:off x="793790" y="3323749"/>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Utilize advanced AI to forecast resource consumption, detect anomalies, and suggest optimizations for efficiency.</a:t>
            </a:r>
            <a:endParaRPr lang="en-US" sz="17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56884" y="1982867"/>
            <a:ext cx="566976" cy="566976"/>
          </a:xfrm>
          <a:prstGeom prst="rect">
            <a:avLst/>
          </a:prstGeom>
        </p:spPr>
      </p:pic>
      <p:sp>
        <p:nvSpPr>
          <p:cNvPr id="9" name="Text 4"/>
          <p:cNvSpPr/>
          <p:nvPr/>
        </p:nvSpPr>
        <p:spPr>
          <a:xfrm>
            <a:off x="7456884" y="2833330"/>
            <a:ext cx="389751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Automated Shutoff Systems</a:t>
            </a:r>
            <a:endParaRPr lang="en-US" sz="2200" dirty="0"/>
          </a:p>
        </p:txBody>
      </p:sp>
      <p:sp>
        <p:nvSpPr>
          <p:cNvPr id="10" name="Text 5"/>
          <p:cNvSpPr/>
          <p:nvPr/>
        </p:nvSpPr>
        <p:spPr>
          <a:xfrm>
            <a:off x="7456884" y="3323749"/>
            <a:ext cx="637972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Implement intelligent auto-shutoff protocols for unused equipment or detected hazards, preventing waste and ensuring safety.</a:t>
            </a:r>
            <a:endParaRPr lang="en-US" sz="17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3790" y="4866084"/>
            <a:ext cx="566976" cy="566976"/>
          </a:xfrm>
          <a:prstGeom prst="rect">
            <a:avLst/>
          </a:prstGeom>
        </p:spPr>
      </p:pic>
      <p:sp>
        <p:nvSpPr>
          <p:cNvPr id="12" name="Text 6"/>
          <p:cNvSpPr/>
          <p:nvPr/>
        </p:nvSpPr>
        <p:spPr>
          <a:xfrm>
            <a:off x="793790" y="5716548"/>
            <a:ext cx="305323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Dedicated Mobile App</a:t>
            </a:r>
            <a:endParaRPr lang="en-US" sz="2200" dirty="0"/>
          </a:p>
        </p:txBody>
      </p:sp>
      <p:sp>
        <p:nvSpPr>
          <p:cNvPr id="13" name="Text 7"/>
          <p:cNvSpPr/>
          <p:nvPr/>
        </p:nvSpPr>
        <p:spPr>
          <a:xfrm>
            <a:off x="793790" y="6206966"/>
            <a:ext cx="6379607"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Access real-time data, receive instant alerts, and manage resources conveniently from a user-friendly mobile application.</a:t>
            </a:r>
            <a:endParaRPr lang="en-US" sz="17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56884" y="4866084"/>
            <a:ext cx="566976" cy="566976"/>
          </a:xfrm>
          <a:prstGeom prst="rect">
            <a:avLst/>
          </a:prstGeom>
        </p:spPr>
      </p:pic>
      <p:sp>
        <p:nvSpPr>
          <p:cNvPr id="15" name="Text 8"/>
          <p:cNvSpPr/>
          <p:nvPr/>
        </p:nvSpPr>
        <p:spPr>
          <a:xfrm>
            <a:off x="7456884" y="5716548"/>
            <a:ext cx="362569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Smart Campus Integration</a:t>
            </a:r>
            <a:endParaRPr lang="en-US" sz="2200" dirty="0"/>
          </a:p>
        </p:txBody>
      </p:sp>
      <p:sp>
        <p:nvSpPr>
          <p:cNvPr id="16" name="Text 9"/>
          <p:cNvSpPr/>
          <p:nvPr/>
        </p:nvSpPr>
        <p:spPr>
          <a:xfrm>
            <a:off x="7456884" y="6206966"/>
            <a:ext cx="637972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Seamlessly connect Green Lab data with wider campus infrastructure for holistic resource management and sustainability initiatives.</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78843" y="1506974"/>
            <a:ext cx="6619399" cy="439698"/>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Conclusion: A Smarter, Greener Future</a:t>
            </a:r>
            <a:endParaRPr lang="en-US" sz="2750" dirty="0"/>
          </a:p>
        </p:txBody>
      </p:sp>
      <p:sp>
        <p:nvSpPr>
          <p:cNvPr id="4" name="Text 1"/>
          <p:cNvSpPr/>
          <p:nvPr/>
        </p:nvSpPr>
        <p:spPr>
          <a:xfrm>
            <a:off x="5978843" y="2077522"/>
            <a:ext cx="8159115" cy="364808"/>
          </a:xfrm>
          <a:prstGeom prst="rect">
            <a:avLst/>
          </a:prstGeom>
          <a:noFill/>
          <a:ln/>
        </p:spPr>
        <p:txBody>
          <a:bodyPr wrap="squar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The Green Lab solution delivers comprehensive benefits that redefine laboratory management and contribute significantly to global sustainability efforts.</a:t>
            </a:r>
            <a:endParaRPr lang="en-US" sz="1100" dirty="0"/>
          </a:p>
        </p:txBody>
      </p:sp>
      <p:sp>
        <p:nvSpPr>
          <p:cNvPr id="5" name="Shape 2"/>
          <p:cNvSpPr/>
          <p:nvPr/>
        </p:nvSpPr>
        <p:spPr>
          <a:xfrm>
            <a:off x="5978843" y="2540437"/>
            <a:ext cx="8159115" cy="766167"/>
          </a:xfrm>
          <a:prstGeom prst="roundRect">
            <a:avLst>
              <a:gd name="adj" fmla="val 9548"/>
            </a:avLst>
          </a:prstGeom>
          <a:solidFill>
            <a:srgbClr val="FFFFFF"/>
          </a:solidFill>
          <a:ln w="15240">
            <a:solidFill>
              <a:srgbClr val="C0C1D7"/>
            </a:solidFill>
            <a:prstDash val="solid"/>
          </a:ln>
        </p:spPr>
      </p:sp>
      <p:sp>
        <p:nvSpPr>
          <p:cNvPr id="6" name="Shape 3"/>
          <p:cNvSpPr/>
          <p:nvPr/>
        </p:nvSpPr>
        <p:spPr>
          <a:xfrm>
            <a:off x="5963603" y="2540437"/>
            <a:ext cx="60960" cy="766167"/>
          </a:xfrm>
          <a:prstGeom prst="roundRect">
            <a:avLst>
              <a:gd name="adj" fmla="val 96945"/>
            </a:avLst>
          </a:prstGeom>
          <a:solidFill>
            <a:srgbClr val="4950BC"/>
          </a:solidFill>
          <a:ln/>
        </p:spPr>
      </p:sp>
      <p:sp>
        <p:nvSpPr>
          <p:cNvPr id="7" name="Text 4"/>
          <p:cNvSpPr/>
          <p:nvPr/>
        </p:nvSpPr>
        <p:spPr>
          <a:xfrm>
            <a:off x="6180415" y="2696289"/>
            <a:ext cx="1768673" cy="219789"/>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Improved Lab Safety</a:t>
            </a:r>
            <a:endParaRPr lang="en-US" sz="1350" dirty="0"/>
          </a:p>
        </p:txBody>
      </p:sp>
      <p:sp>
        <p:nvSpPr>
          <p:cNvPr id="8" name="Text 5"/>
          <p:cNvSpPr/>
          <p:nvPr/>
        </p:nvSpPr>
        <p:spPr>
          <a:xfrm>
            <a:off x="6180415" y="2968347"/>
            <a:ext cx="7801689" cy="182404"/>
          </a:xfrm>
          <a:prstGeom prst="rect">
            <a:avLst/>
          </a:prstGeom>
          <a:noFill/>
          <a:ln/>
        </p:spPr>
        <p:txBody>
          <a:bodyPr wrap="non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Enhanced safety protocols through real-time hazard detection and proactive alert systems for gases and leaks.</a:t>
            </a:r>
            <a:endParaRPr lang="en-US" sz="1100" dirty="0"/>
          </a:p>
        </p:txBody>
      </p:sp>
      <p:sp>
        <p:nvSpPr>
          <p:cNvPr id="9" name="Shape 6"/>
          <p:cNvSpPr/>
          <p:nvPr/>
        </p:nvSpPr>
        <p:spPr>
          <a:xfrm>
            <a:off x="5978843" y="3393877"/>
            <a:ext cx="8159115" cy="948571"/>
          </a:xfrm>
          <a:prstGeom prst="roundRect">
            <a:avLst>
              <a:gd name="adj" fmla="val 7712"/>
            </a:avLst>
          </a:prstGeom>
          <a:solidFill>
            <a:srgbClr val="FFFFFF"/>
          </a:solidFill>
          <a:ln w="15240">
            <a:solidFill>
              <a:srgbClr val="C0C1D7"/>
            </a:solidFill>
            <a:prstDash val="solid"/>
          </a:ln>
        </p:spPr>
      </p:sp>
      <p:sp>
        <p:nvSpPr>
          <p:cNvPr id="10" name="Shape 7"/>
          <p:cNvSpPr/>
          <p:nvPr/>
        </p:nvSpPr>
        <p:spPr>
          <a:xfrm>
            <a:off x="5963603" y="3393877"/>
            <a:ext cx="60960" cy="948571"/>
          </a:xfrm>
          <a:prstGeom prst="roundRect">
            <a:avLst>
              <a:gd name="adj" fmla="val 96945"/>
            </a:avLst>
          </a:prstGeom>
          <a:solidFill>
            <a:srgbClr val="4950BC"/>
          </a:solidFill>
          <a:ln/>
        </p:spPr>
      </p:sp>
      <p:sp>
        <p:nvSpPr>
          <p:cNvPr id="11" name="Text 8"/>
          <p:cNvSpPr/>
          <p:nvPr/>
        </p:nvSpPr>
        <p:spPr>
          <a:xfrm>
            <a:off x="6180415" y="3549729"/>
            <a:ext cx="2697123" cy="219789"/>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Reduced Waste &amp; Consumption</a:t>
            </a:r>
            <a:endParaRPr lang="en-US" sz="1350" dirty="0"/>
          </a:p>
        </p:txBody>
      </p:sp>
      <p:sp>
        <p:nvSpPr>
          <p:cNvPr id="12" name="Text 9"/>
          <p:cNvSpPr/>
          <p:nvPr/>
        </p:nvSpPr>
        <p:spPr>
          <a:xfrm>
            <a:off x="6180415" y="3821787"/>
            <a:ext cx="7801689" cy="364808"/>
          </a:xfrm>
          <a:prstGeom prst="rect">
            <a:avLst/>
          </a:prstGeom>
          <a:noFill/>
          <a:ln/>
        </p:spPr>
        <p:txBody>
          <a:bodyPr wrap="squar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Efficient resource management of water and electricity minimizes environmental impact and lowers operational costs.</a:t>
            </a:r>
            <a:endParaRPr lang="en-US" sz="1100" dirty="0"/>
          </a:p>
        </p:txBody>
      </p:sp>
      <p:sp>
        <p:nvSpPr>
          <p:cNvPr id="13" name="Shape 10"/>
          <p:cNvSpPr/>
          <p:nvPr/>
        </p:nvSpPr>
        <p:spPr>
          <a:xfrm>
            <a:off x="5978843" y="4429720"/>
            <a:ext cx="8159115" cy="948571"/>
          </a:xfrm>
          <a:prstGeom prst="roundRect">
            <a:avLst>
              <a:gd name="adj" fmla="val 7712"/>
            </a:avLst>
          </a:prstGeom>
          <a:solidFill>
            <a:srgbClr val="FFFFFF"/>
          </a:solidFill>
          <a:ln w="15240">
            <a:solidFill>
              <a:srgbClr val="C0C1D7"/>
            </a:solidFill>
            <a:prstDash val="solid"/>
          </a:ln>
        </p:spPr>
      </p:sp>
      <p:sp>
        <p:nvSpPr>
          <p:cNvPr id="14" name="Shape 11"/>
          <p:cNvSpPr/>
          <p:nvPr/>
        </p:nvSpPr>
        <p:spPr>
          <a:xfrm>
            <a:off x="5963603" y="4429720"/>
            <a:ext cx="60960" cy="948571"/>
          </a:xfrm>
          <a:prstGeom prst="roundRect">
            <a:avLst>
              <a:gd name="adj" fmla="val 96945"/>
            </a:avLst>
          </a:prstGeom>
          <a:solidFill>
            <a:srgbClr val="4950BC"/>
          </a:solidFill>
          <a:ln/>
        </p:spPr>
      </p:sp>
      <p:sp>
        <p:nvSpPr>
          <p:cNvPr id="15" name="Text 12"/>
          <p:cNvSpPr/>
          <p:nvPr/>
        </p:nvSpPr>
        <p:spPr>
          <a:xfrm>
            <a:off x="6180415" y="4585573"/>
            <a:ext cx="1758791" cy="219789"/>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Supports SDG Goals</a:t>
            </a:r>
            <a:endParaRPr lang="en-US" sz="1350" dirty="0"/>
          </a:p>
        </p:txBody>
      </p:sp>
      <p:sp>
        <p:nvSpPr>
          <p:cNvPr id="16" name="Text 13"/>
          <p:cNvSpPr/>
          <p:nvPr/>
        </p:nvSpPr>
        <p:spPr>
          <a:xfrm>
            <a:off x="6180415" y="4857631"/>
            <a:ext cx="7801689" cy="364808"/>
          </a:xfrm>
          <a:prstGeom prst="rect">
            <a:avLst/>
          </a:prstGeom>
          <a:noFill/>
          <a:ln/>
        </p:spPr>
        <p:txBody>
          <a:bodyPr wrap="square" lIns="0" tIns="0" rIns="0" bIns="0" rtlCol="0" anchor="t"/>
          <a:lstStyle/>
          <a:p>
            <a:pPr marL="0" indent="0" algn="l">
              <a:lnSpc>
                <a:spcPts val="1400"/>
              </a:lnSpc>
              <a:buNone/>
            </a:pPr>
            <a:r>
              <a:rPr lang="en-US" sz="1100" dirty="0">
                <a:solidFill>
                  <a:srgbClr val="272525"/>
                </a:solidFill>
                <a:latin typeface="Inter" pitchFamily="34" charset="0"/>
                <a:ea typeface="Inter" pitchFamily="34" charset="-122"/>
                <a:cs typeface="Inter" pitchFamily="34" charset="-120"/>
              </a:rPr>
              <a:t>Directly contributes to Sustainable Development Goals, fostering a culture of responsibility and environmental stewardship.</a:t>
            </a:r>
            <a:endParaRPr lang="en-US" sz="1100" dirty="0"/>
          </a:p>
        </p:txBody>
      </p:sp>
      <p:sp>
        <p:nvSpPr>
          <p:cNvPr id="17" name="Text 14"/>
          <p:cNvSpPr/>
          <p:nvPr/>
        </p:nvSpPr>
        <p:spPr>
          <a:xfrm>
            <a:off x="5978843" y="5509141"/>
            <a:ext cx="8159115" cy="1213485"/>
          </a:xfrm>
          <a:prstGeom prst="rect">
            <a:avLst/>
          </a:prstGeom>
          <a:noFill/>
          <a:ln/>
        </p:spPr>
        <p:txBody>
          <a:bodyPr wrap="square" lIns="0" tIns="0" rIns="0" bIns="0" rtlCol="0" anchor="t"/>
          <a:lstStyle/>
          <a:p>
            <a:pPr marL="0" indent="0" algn="l">
              <a:lnSpc>
                <a:spcPts val="4750"/>
              </a:lnSpc>
              <a:buNone/>
            </a:pPr>
            <a:r>
              <a:rPr lang="en-US" sz="3800" b="1" dirty="0">
                <a:solidFill>
                  <a:srgbClr val="000000"/>
                </a:solidFill>
                <a:latin typeface="Inter Bold" pitchFamily="34" charset="0"/>
                <a:ea typeface="Inter Bold" pitchFamily="34" charset="-122"/>
                <a:cs typeface="Inter Bold" pitchFamily="34" charset="-120"/>
              </a:rPr>
              <a:t>Building Smart &amp; Sustainable Labs for the Future</a:t>
            </a:r>
            <a:endParaRPr lang="en-US" sz="3800" dirty="0"/>
          </a:p>
        </p:txBody>
      </p:sp>
      <p:pic>
        <p:nvPicPr>
          <p:cNvPr id="18" name="Picture 17">
            <a:extLst>
              <a:ext uri="{FF2B5EF4-FFF2-40B4-BE49-F238E27FC236}">
                <a16:creationId xmlns:a16="http://schemas.microsoft.com/office/drawing/2014/main" id="{E8EB3CB1-D4AB-4727-63BA-30834C8E61C5}"/>
              </a:ext>
            </a:extLst>
          </p:cNvPr>
          <p:cNvPicPr>
            <a:picLocks noChangeAspect="1"/>
          </p:cNvPicPr>
          <p:nvPr/>
        </p:nvPicPr>
        <p:blipFill>
          <a:blip r:embed="rId4"/>
          <a:stretch>
            <a:fillRect/>
          </a:stretch>
        </p:blipFill>
        <p:spPr>
          <a:xfrm>
            <a:off x="12607356" y="7717787"/>
            <a:ext cx="1895740" cy="3905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2952393"/>
            <a:ext cx="11341298" cy="1417677"/>
          </a:xfrm>
          <a:prstGeom prst="rect">
            <a:avLst/>
          </a:prstGeom>
          <a:noFill/>
          <a:ln/>
        </p:spPr>
        <p:txBody>
          <a:bodyPr wrap="none" lIns="0" tIns="0" rIns="0" bIns="0" rtlCol="0" anchor="t"/>
          <a:lstStyle/>
          <a:p>
            <a:pPr marL="0" indent="0" algn="l">
              <a:lnSpc>
                <a:spcPts val="11150"/>
              </a:lnSpc>
              <a:buNone/>
            </a:pPr>
            <a:r>
              <a:rPr lang="en-US" sz="8900" b="1" dirty="0">
                <a:solidFill>
                  <a:srgbClr val="000000"/>
                </a:solidFill>
                <a:latin typeface="Inter Bold" pitchFamily="34" charset="0"/>
                <a:ea typeface="Inter Bold" pitchFamily="34" charset="-122"/>
                <a:cs typeface="Inter Bold" pitchFamily="34" charset="-120"/>
              </a:rPr>
              <a:t>             THANK YOU</a:t>
            </a:r>
            <a:endParaRPr lang="en-US" sz="8900" dirty="0"/>
          </a:p>
        </p:txBody>
      </p:sp>
      <p:sp>
        <p:nvSpPr>
          <p:cNvPr id="5" name="Text 2"/>
          <p:cNvSpPr/>
          <p:nvPr/>
        </p:nvSpPr>
        <p:spPr>
          <a:xfrm>
            <a:off x="5046940" y="4710232"/>
            <a:ext cx="4536519" cy="566976"/>
          </a:xfrm>
          <a:prstGeom prst="rect">
            <a:avLst/>
          </a:prstGeom>
          <a:noFill/>
          <a:ln/>
        </p:spPr>
        <p:txBody>
          <a:bodyPr wrap="none" lIns="0" tIns="0" rIns="0" bIns="0" rtlCol="0" anchor="t"/>
          <a:lstStyle/>
          <a:p>
            <a:pPr marL="0" indent="0" algn="ctr">
              <a:lnSpc>
                <a:spcPts val="4450"/>
              </a:lnSpc>
              <a:buNone/>
            </a:pPr>
            <a:r>
              <a:rPr lang="en-US" sz="3550" b="1" dirty="0">
                <a:solidFill>
                  <a:srgbClr val="000000"/>
                </a:solidFill>
                <a:latin typeface="Inter Bold" pitchFamily="34" charset="0"/>
                <a:ea typeface="Inter Bold" pitchFamily="34" charset="-122"/>
                <a:cs typeface="Inter Bold" pitchFamily="34" charset="-120"/>
              </a:rPr>
              <a:t>QnA</a:t>
            </a:r>
            <a:endParaRPr lang="en-US" sz="3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877</Words>
  <Application>Microsoft Office PowerPoint</Application>
  <PresentationFormat>Custom</PresentationFormat>
  <Paragraphs>131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Inter Bold</vt:lpstr>
      <vt:lpstr>-apple-system, BlinkMacSystemFont, Segoe UI, Roboto, Helvetica Neue, Arial, sans-serif Medium</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Shubham Kumar</dc:creator>
  <cp:lastModifiedBy>Ujjwal singh</cp:lastModifiedBy>
  <cp:revision>3</cp:revision>
  <dcterms:created xsi:type="dcterms:W3CDTF">2026-04-06T11:18:15Z</dcterms:created>
  <dcterms:modified xsi:type="dcterms:W3CDTF">2026-04-06T11:42:51Z</dcterms:modified>
</cp:coreProperties>
</file>